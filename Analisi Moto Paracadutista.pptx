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9"/>
  </p:notesMasterIdLst>
  <p:sldIdLst>
    <p:sldId id="256" r:id="rId5"/>
    <p:sldId id="258" r:id="rId6"/>
    <p:sldId id="259" r:id="rId7"/>
    <p:sldId id="261" r:id="rId8"/>
    <p:sldId id="260" r:id="rId9"/>
    <p:sldId id="265" r:id="rId10"/>
    <p:sldId id="262" r:id="rId11"/>
    <p:sldId id="263" r:id="rId12"/>
    <p:sldId id="264" r:id="rId13"/>
    <p:sldId id="266" r:id="rId14"/>
    <p:sldId id="267" r:id="rId15"/>
    <p:sldId id="269" r:id="rId16"/>
    <p:sldId id="268" r:id="rId17"/>
    <p:sldId id="270" r:id="rId18"/>
  </p:sldIdLst>
  <p:sldSz cx="12192000" cy="6858000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Montserrat ExtraBold" panose="00000900000000000000" pitchFamily="2" charset="0"/>
      <p:bold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390"/>
    <a:srgbClr val="436C9E"/>
    <a:srgbClr val="A5B5FD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E3445A-38D6-49C8-BCEB-5F833F58C390}" v="30" dt="2026-02-03T19:09:01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2" name="Google Shape;3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1" name="Google Shape;3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8" name="Google Shape;31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19110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2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5.pn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1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15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41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2.png"/><Relationship Id="rId18" Type="http://schemas.microsoft.com/office/2007/relationships/hdphoto" Target="../media/hdphoto5.wdp"/><Relationship Id="rId3" Type="http://schemas.openxmlformats.org/officeDocument/2006/relationships/image" Target="../media/image15.png"/><Relationship Id="rId7" Type="http://schemas.openxmlformats.org/officeDocument/2006/relationships/image" Target="../media/image67.png"/><Relationship Id="rId12" Type="http://schemas.openxmlformats.org/officeDocument/2006/relationships/image" Target="../media/image71.png"/><Relationship Id="rId17" Type="http://schemas.openxmlformats.org/officeDocument/2006/relationships/image" Target="../media/image7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0.png"/><Relationship Id="rId5" Type="http://schemas.openxmlformats.org/officeDocument/2006/relationships/image" Target="../media/image65.png"/><Relationship Id="rId15" Type="http://schemas.openxmlformats.org/officeDocument/2006/relationships/image" Target="../media/image73.png"/><Relationship Id="rId10" Type="http://schemas.microsoft.com/office/2007/relationships/hdphoto" Target="../media/hdphoto3.wdp"/><Relationship Id="rId19" Type="http://schemas.openxmlformats.org/officeDocument/2006/relationships/image" Target="../media/image28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5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6.png"/><Relationship Id="rId4" Type="http://schemas.openxmlformats.org/officeDocument/2006/relationships/image" Target="../media/image8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15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6.png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6306265" y="220182"/>
            <a:ext cx="588573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700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Analisi Fisica e Computazionale</a:t>
            </a:r>
            <a:br>
              <a:rPr lang="it-IT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-IT" sz="2700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del Moto di un Paracadutista</a:t>
            </a:r>
            <a:endParaRPr lang="it-IT" noProof="0" dirty="0"/>
          </a:p>
        </p:txBody>
      </p:sp>
      <p:sp>
        <p:nvSpPr>
          <p:cNvPr id="86" name="Google Shape;86;p13"/>
          <p:cNvSpPr/>
          <p:nvPr/>
        </p:nvSpPr>
        <p:spPr>
          <a:xfrm>
            <a:off x="5381625" y="3081337"/>
            <a:ext cx="1428750" cy="571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37447" y="4139362"/>
            <a:ext cx="397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100" b="0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Sara Proietto | </a:t>
            </a:r>
            <a:r>
              <a:rPr lang="it-IT" sz="2100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Febbraio </a:t>
            </a:r>
            <a:r>
              <a:rPr lang="it-IT" sz="2100" b="0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202</a:t>
            </a:r>
            <a:r>
              <a:rPr lang="it-IT" sz="2100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lang="it-IT" noProof="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13684" y="4912167"/>
            <a:ext cx="38195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0" i="0" u="none" strike="noStrike" cap="none" noProof="0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Corso di Metodi Computazionali per la Fisica</a:t>
            </a:r>
            <a:endParaRPr lang="it-IT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alphaModFix amt="62000"/>
          </a:blip>
          <a:srcRect/>
          <a:stretch/>
        </p:blipFill>
        <p:spPr>
          <a:xfrm>
            <a:off x="600075" y="2720508"/>
            <a:ext cx="5324475" cy="651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828603"/>
            <a:ext cx="5324475" cy="240000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Google Shape;122;p15"/>
              <p:cNvSpPr txBox="1"/>
              <p:nvPr/>
            </p:nvSpPr>
            <p:spPr>
              <a:xfrm>
                <a:off x="600075" y="1209675"/>
                <a:ext cx="5324475" cy="138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350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Il moto è governato dalla Seconda Legge di Newton considerando:</a:t>
                </a:r>
              </a:p>
              <a:p>
                <a:pPr marL="285750" lvl="0" indent="-285750">
                  <a:lnSpc>
                    <a:spcPct val="150000"/>
                  </a:lnSpc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it-IT" sz="1350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Forza Peso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it-IT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e>
                    </m:acc>
                    <m:r>
                      <a:rPr lang="it-IT" noProof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noProof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it-IT" noProof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it-IT" i="1" noProof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it-IT" noProof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acc>
                  </m:oMath>
                </a14:m>
                <a:endParaRPr lang="it-IT" sz="1350" noProof="0" dirty="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285750" lvl="0" indent="-285750">
                  <a:lnSpc>
                    <a:spcPct val="150000"/>
                  </a:lnSpc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it-IT" sz="1350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Resistenza Viscosa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it-IT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e>
                    </m:acc>
                    <m:r>
                      <a:rPr lang="it-IT" noProof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it-IT" noProof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it-IT" noProof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it-IT" i="1" noProof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it-IT" noProof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it-IT" noProof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 </m:t>
                    </m:r>
                    <m:r>
                      <a:rPr lang="it-IT" noProof="0">
                        <a:latin typeface="Cambria Math" panose="02040503050406030204" pitchFamily="18" charset="0"/>
                      </a:rPr>
                      <m:t>    </m:t>
                    </m:r>
                  </m:oMath>
                </a14:m>
                <a:endParaRPr lang="it-IT" noProof="0" dirty="0"/>
              </a:p>
            </p:txBody>
          </p:sp>
        </mc:Choice>
        <mc:Fallback>
          <p:sp>
            <p:nvSpPr>
              <p:cNvPr id="122" name="Google Shape;122;p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5" y="1209675"/>
                <a:ext cx="5324475" cy="1384225"/>
              </a:xfrm>
              <a:prstGeom prst="rect">
                <a:avLst/>
              </a:prstGeom>
              <a:blipFill>
                <a:blip r:embed="rId5"/>
                <a:stretch>
                  <a:fillRect l="-1945" b="-30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Google Shape;123;p15"/>
          <p:cNvSpPr txBox="1"/>
          <p:nvPr/>
        </p:nvSpPr>
        <p:spPr>
          <a:xfrm>
            <a:off x="581025" y="3399978"/>
            <a:ext cx="53244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0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Proiettando sui due assi cartesiani (Y verso l'alto):</a:t>
            </a:r>
            <a:endParaRPr lang="it-IT" noProof="0"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988528" y="3931770"/>
            <a:ext cx="157506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Asse X (Orizzontale):</a:t>
            </a:r>
            <a:endParaRPr lang="it-IT" sz="1800" noProof="0"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3737938" y="3931770"/>
            <a:ext cx="141868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Asse Y (Verticale):</a:t>
            </a:r>
            <a:endParaRPr lang="it-IT" sz="1800" noProof="0"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581025" y="3905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50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Analisi del Sistema Fisico</a:t>
            </a:r>
            <a:endParaRPr lang="it-IT" noProof="0" dirty="0"/>
          </a:p>
        </p:txBody>
      </p:sp>
      <p:sp>
        <p:nvSpPr>
          <p:cNvPr id="2" name="AutoShape 2" descr="Immagine di ">
            <a:extLst>
              <a:ext uri="{FF2B5EF4-FFF2-40B4-BE49-F238E27FC236}">
                <a16:creationId xmlns:a16="http://schemas.microsoft.com/office/drawing/2014/main" id="{70281043-09FB-E108-E50B-AC6E1DF11E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9C214C1-D607-CD45-D186-FF19F003D330}"/>
                  </a:ext>
                </a:extLst>
              </p:cNvPr>
              <p:cNvSpPr txBox="1"/>
              <p:nvPr/>
            </p:nvSpPr>
            <p:spPr>
              <a:xfrm>
                <a:off x="2563589" y="2796293"/>
                <a:ext cx="1359346" cy="432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IT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it-IT" i="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it-IT" i="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it-IT" b="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it-IT" b="0" i="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it-IT" i="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it-IT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it-IT" i="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a:rPr lang="it-IT" i="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it-IT" i="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it-IT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t-IT" i="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t-IT" i="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f>
                        <m:fPr>
                          <m:ctrlPr>
                            <a:rPr lang="it-IT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t-IT" b="0" i="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it-IT" b="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it-IT" b="0" i="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it-IT" b="0" i="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it-IT" b="0" i="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it-IT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it-IT" b="0" i="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acc>
                    </m:oMath>
                  </m:oMathPara>
                </a14:m>
                <a:endParaRPr lang="it-IT" noProof="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9C214C1-D607-CD45-D186-FF19F003D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589" y="2796293"/>
                <a:ext cx="1359346" cy="4322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po 7">
            <a:extLst>
              <a:ext uri="{FF2B5EF4-FFF2-40B4-BE49-F238E27FC236}">
                <a16:creationId xmlns:a16="http://schemas.microsoft.com/office/drawing/2014/main" id="{385DA4DD-BD89-5667-66D7-0B788B192D57}"/>
              </a:ext>
            </a:extLst>
          </p:cNvPr>
          <p:cNvGrpSpPr/>
          <p:nvPr/>
        </p:nvGrpSpPr>
        <p:grpSpPr>
          <a:xfrm>
            <a:off x="1085516" y="4969744"/>
            <a:ext cx="1381083" cy="678581"/>
            <a:chOff x="653656" y="4904832"/>
            <a:chExt cx="1381083" cy="678581"/>
          </a:xfrm>
        </p:grpSpPr>
        <p:pic>
          <p:nvPicPr>
            <p:cNvPr id="120" name="Google Shape;120;p15" descr="image.png"/>
            <p:cNvPicPr preferRelativeResize="0"/>
            <p:nvPr/>
          </p:nvPicPr>
          <p:blipFill rotWithShape="1">
            <a:blip r:embed="rId7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62000"/>
            </a:blip>
            <a:srcRect/>
            <a:stretch/>
          </p:blipFill>
          <p:spPr>
            <a:xfrm>
              <a:off x="653656" y="4904832"/>
              <a:ext cx="1381083" cy="678581"/>
            </a:xfrm>
            <a:prstGeom prst="rect">
              <a:avLst/>
            </a:prstGeom>
            <a:noFill/>
            <a:ln>
              <a:noFill/>
            </a:ln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CasellaDiTesto 6">
                  <a:extLst>
                    <a:ext uri="{FF2B5EF4-FFF2-40B4-BE49-F238E27FC236}">
                      <a16:creationId xmlns:a16="http://schemas.microsoft.com/office/drawing/2014/main" id="{ABA9912F-0E4C-79BC-A59C-08DB91AC92F4}"/>
                    </a:ext>
                  </a:extLst>
                </p:cNvPr>
                <p:cNvSpPr txBox="1"/>
                <p:nvPr/>
              </p:nvSpPr>
              <p:spPr>
                <a:xfrm>
                  <a:off x="802189" y="5017285"/>
                  <a:ext cx="1084015" cy="4322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it-IT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it-IT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it-IT" b="0" i="0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lang="it-IT" b="0" i="0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it-IT" b="0" i="0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sup>
                            </m:sSup>
                          </m:num>
                          <m:den>
                            <m:r>
                              <a:rPr lang="it-IT" b="0" i="0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m:rPr>
                                <m:sty m:val="p"/>
                              </m:rPr>
                              <a:rPr lang="it-IT" b="0" i="0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sSup>
                              <m:sSupPr>
                                <m:ctrlPr>
                                  <a:rPr lang="it-IT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it-IT" b="0" i="0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p>
                                <m:r>
                                  <a:rPr lang="it-IT" b="0" i="0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it-IT" b="0" i="0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it-IT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it-IT" b="0" i="0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it-IT" b="0" i="0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den>
                        </m:f>
                        <m:sSub>
                          <m:sSubPr>
                            <m:ctrlPr>
                              <a:rPr lang="it-IT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b="0" i="0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b="0" i="0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oMath>
                    </m:oMathPara>
                  </a14:m>
                  <a:endParaRPr lang="it-IT" noProof="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" name="CasellaDiTesto 6">
                  <a:extLst>
                    <a:ext uri="{FF2B5EF4-FFF2-40B4-BE49-F238E27FC236}">
                      <a16:creationId xmlns:a16="http://schemas.microsoft.com/office/drawing/2014/main" id="{ABA9912F-0E4C-79BC-A59C-08DB91AC9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189" y="5017285"/>
                  <a:ext cx="1084015" cy="43223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9" name="Google Shape;120;p15" descr="image.png">
            <a:extLst>
              <a:ext uri="{FF2B5EF4-FFF2-40B4-BE49-F238E27FC236}">
                <a16:creationId xmlns:a16="http://schemas.microsoft.com/office/drawing/2014/main" id="{1796873F-6D0F-5B4B-E37B-A6014BBECA49}"/>
              </a:ext>
            </a:extLst>
          </p:cNvPr>
          <p:cNvPicPr preferRelativeResize="0"/>
          <p:nvPr/>
        </p:nvPicPr>
        <p:blipFill rotWithShape="1"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  <a:alphaModFix amt="62000"/>
          </a:blip>
          <a:srcRect/>
          <a:stretch/>
        </p:blipFill>
        <p:spPr>
          <a:xfrm>
            <a:off x="3737938" y="4969744"/>
            <a:ext cx="1418680" cy="67858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614A1C7A-2C79-AEB9-7ACD-6B1AFC3869EF}"/>
                  </a:ext>
                </a:extLst>
              </p:cNvPr>
              <p:cNvSpPr txBox="1"/>
              <p:nvPr/>
            </p:nvSpPr>
            <p:spPr>
              <a:xfrm>
                <a:off x="3621095" y="5058706"/>
                <a:ext cx="1652366" cy="524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IT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it-IT" i="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it-IT" i="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it-IT" i="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t-IT" i="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it-IT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it-IT" i="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a:rPr lang="it-IT" i="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it-IT" i="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it-IT" i="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it-IT" i="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t-IT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t-IT" i="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t-IT" i="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sSub>
                        <m:sSubPr>
                          <m:ctrlPr>
                            <a:rPr lang="it-IT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i="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i="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</m:oMath>
                  </m:oMathPara>
                </a14:m>
                <a:endParaRPr lang="it-IT" noProof="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614A1C7A-2C79-AEB9-7ACD-6B1AFC386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095" y="5058706"/>
                <a:ext cx="1652366" cy="5245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magine 12" descr="Immagine che contiene Mongolfiera, design&#10;&#10;Il contenuto generato dall'IA potrebbe non essere corretto.">
            <a:extLst>
              <a:ext uri="{FF2B5EF4-FFF2-40B4-BE49-F238E27FC236}">
                <a16:creationId xmlns:a16="http://schemas.microsoft.com/office/drawing/2014/main" id="{D161A7EA-1327-0BC9-94C9-7C54733B2A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7597" b="80941" l="10000" r="90000"/>
                    </a14:imgEffect>
                  </a14:imgLayer>
                </a14:imgProps>
              </a:ext>
            </a:extLst>
          </a:blip>
          <a:srcRect t="9679" b="11141"/>
          <a:stretch>
            <a:fillRect/>
          </a:stretch>
        </p:blipFill>
        <p:spPr>
          <a:xfrm>
            <a:off x="6835088" y="2051796"/>
            <a:ext cx="4368384" cy="3458887"/>
          </a:xfrm>
          <a:prstGeom prst="rect">
            <a:avLst/>
          </a:prstGeom>
        </p:spPr>
      </p:pic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37D1F822-5E6A-DDA9-16F9-68A2651C27BE}"/>
              </a:ext>
            </a:extLst>
          </p:cNvPr>
          <p:cNvCxnSpPr/>
          <p:nvPr/>
        </p:nvCxnSpPr>
        <p:spPr>
          <a:xfrm flipV="1">
            <a:off x="6940446" y="1901787"/>
            <a:ext cx="0" cy="39893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29375567-3AAA-D4D5-2500-5ABF1CE6D45B}"/>
              </a:ext>
            </a:extLst>
          </p:cNvPr>
          <p:cNvCxnSpPr/>
          <p:nvPr/>
        </p:nvCxnSpPr>
        <p:spPr>
          <a:xfrm>
            <a:off x="6955436" y="5891134"/>
            <a:ext cx="46555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524D8C04-2429-D941-D27E-69E730127B1D}"/>
              </a:ext>
            </a:extLst>
          </p:cNvPr>
          <p:cNvCxnSpPr/>
          <p:nvPr/>
        </p:nvCxnSpPr>
        <p:spPr>
          <a:xfrm>
            <a:off x="8978603" y="3542306"/>
            <a:ext cx="15787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B30716D2-173D-6463-DE07-74D881235B8E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9019280" y="3528565"/>
            <a:ext cx="0" cy="19821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30287AD8-0382-D101-01F6-4FAC81D1AE39}"/>
              </a:ext>
            </a:extLst>
          </p:cNvPr>
          <p:cNvCxnSpPr/>
          <p:nvPr/>
        </p:nvCxnSpPr>
        <p:spPr>
          <a:xfrm>
            <a:off x="9428813" y="4811843"/>
            <a:ext cx="0" cy="6988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32C78A1F-2FC4-831F-70D5-24A981C186BB}"/>
              </a:ext>
            </a:extLst>
          </p:cNvPr>
          <p:cNvCxnSpPr/>
          <p:nvPr/>
        </p:nvCxnSpPr>
        <p:spPr>
          <a:xfrm flipV="1">
            <a:off x="9019280" y="1960844"/>
            <a:ext cx="0" cy="15677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76C72074-E544-4959-63F0-51C576B45627}"/>
              </a:ext>
            </a:extLst>
          </p:cNvPr>
          <p:cNvCxnSpPr/>
          <p:nvPr/>
        </p:nvCxnSpPr>
        <p:spPr>
          <a:xfrm flipH="1">
            <a:off x="7201177" y="3534676"/>
            <a:ext cx="181810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D10EE71-8D1E-828D-9BAA-9192EBC03B21}"/>
              </a:ext>
            </a:extLst>
          </p:cNvPr>
          <p:cNvSpPr txBox="1"/>
          <p:nvPr/>
        </p:nvSpPr>
        <p:spPr>
          <a:xfrm>
            <a:off x="7045805" y="1730308"/>
            <a:ext cx="325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noProof="0" dirty="0">
                <a:solidFill>
                  <a:schemeClr val="bg1"/>
                </a:solidFill>
              </a:rPr>
              <a:t>Y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B7DB3B1F-2CAE-41C9-0B89-02B03FDE2632}"/>
              </a:ext>
            </a:extLst>
          </p:cNvPr>
          <p:cNvSpPr txBox="1"/>
          <p:nvPr/>
        </p:nvSpPr>
        <p:spPr>
          <a:xfrm>
            <a:off x="11447996" y="5375099"/>
            <a:ext cx="325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noProof="0" dirty="0">
                <a:solidFill>
                  <a:schemeClr val="bg1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2CE81909-A8A7-E783-E5A6-8B1BF5080D17}"/>
                  </a:ext>
                </a:extLst>
              </p:cNvPr>
              <p:cNvSpPr txBox="1"/>
              <p:nvPr/>
            </p:nvSpPr>
            <p:spPr>
              <a:xfrm>
                <a:off x="10273261" y="3142196"/>
                <a:ext cx="7373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2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it-IT" noProof="0" dirty="0"/>
              </a:p>
            </p:txBody>
          </p:sp>
        </mc:Choice>
        <mc:Fallback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2CE81909-A8A7-E783-E5A6-8B1BF5080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3261" y="3142196"/>
                <a:ext cx="73731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asellaDiTesto 35">
                <a:extLst>
                  <a:ext uri="{FF2B5EF4-FFF2-40B4-BE49-F238E27FC236}">
                    <a16:creationId xmlns:a16="http://schemas.microsoft.com/office/drawing/2014/main" id="{8CDA1597-CBAE-F681-A455-3C7715D7B2E5}"/>
                  </a:ext>
                </a:extLst>
              </p:cNvPr>
              <p:cNvSpPr txBox="1"/>
              <p:nvPr/>
            </p:nvSpPr>
            <p:spPr>
              <a:xfrm>
                <a:off x="7075440" y="3067789"/>
                <a:ext cx="689859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it-IT" sz="2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it-IT" sz="2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2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it-IT" noProof="0" dirty="0"/>
              </a:p>
            </p:txBody>
          </p:sp>
        </mc:Choice>
        <mc:Fallback>
          <p:sp>
            <p:nvSpPr>
              <p:cNvPr id="36" name="CasellaDiTesto 35">
                <a:extLst>
                  <a:ext uri="{FF2B5EF4-FFF2-40B4-BE49-F238E27FC236}">
                    <a16:creationId xmlns:a16="http://schemas.microsoft.com/office/drawing/2014/main" id="{8CDA1597-CBAE-F681-A455-3C7715D7B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440" y="3067789"/>
                <a:ext cx="689859" cy="41351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56F8C62B-A0E5-4B90-72D1-4E41115B3C71}"/>
                  </a:ext>
                </a:extLst>
              </p:cNvPr>
              <p:cNvSpPr txBox="1"/>
              <p:nvPr/>
            </p:nvSpPr>
            <p:spPr>
              <a:xfrm>
                <a:off x="9175270" y="1722606"/>
                <a:ext cx="689859" cy="428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0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it-IT" sz="20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it-IT" sz="20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</m:oMath>
                  </m:oMathPara>
                </a14:m>
                <a:endParaRPr lang="it-IT" noProof="0" dirty="0"/>
              </a:p>
            </p:txBody>
          </p:sp>
        </mc:Choice>
        <mc:Fallback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56F8C62B-A0E5-4B90-72D1-4E41115B3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5270" y="1722606"/>
                <a:ext cx="689859" cy="428322"/>
              </a:xfrm>
              <a:prstGeom prst="rect">
                <a:avLst/>
              </a:prstGeom>
              <a:blipFill>
                <a:blip r:embed="rId14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CasellaDiTesto 37">
                <a:extLst>
                  <a:ext uri="{FF2B5EF4-FFF2-40B4-BE49-F238E27FC236}">
                    <a16:creationId xmlns:a16="http://schemas.microsoft.com/office/drawing/2014/main" id="{7F4F28E0-FB93-E861-78BF-645C5987B7A9}"/>
                  </a:ext>
                </a:extLst>
              </p:cNvPr>
              <p:cNvSpPr txBox="1"/>
              <p:nvPr/>
            </p:nvSpPr>
            <p:spPr>
              <a:xfrm>
                <a:off x="8327025" y="5124890"/>
                <a:ext cx="737319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i="1" noProof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20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it-IT" noProof="0" dirty="0"/>
              </a:p>
            </p:txBody>
          </p:sp>
        </mc:Choice>
        <mc:Fallback>
          <p:sp>
            <p:nvSpPr>
              <p:cNvPr id="38" name="CasellaDiTesto 37">
                <a:extLst>
                  <a:ext uri="{FF2B5EF4-FFF2-40B4-BE49-F238E27FC236}">
                    <a16:creationId xmlns:a16="http://schemas.microsoft.com/office/drawing/2014/main" id="{7F4F28E0-FB93-E861-78BF-645C5987B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025" y="5124890"/>
                <a:ext cx="737319" cy="424283"/>
              </a:xfrm>
              <a:prstGeom prst="rect">
                <a:avLst/>
              </a:prstGeom>
              <a:blipFill>
                <a:blip r:embed="rId1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75052F63-12E9-8C27-0B01-9079D474DC1D}"/>
                  </a:ext>
                </a:extLst>
              </p:cNvPr>
              <p:cNvSpPr txBox="1"/>
              <p:nvPr/>
            </p:nvSpPr>
            <p:spPr>
              <a:xfrm>
                <a:off x="9346404" y="5173631"/>
                <a:ext cx="689859" cy="468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it-IT" sz="20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2000" b="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it-IT" sz="2000" b="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it-IT" noProof="0" dirty="0"/>
              </a:p>
            </p:txBody>
          </p:sp>
        </mc:Choice>
        <mc:Fallback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75052F63-12E9-8C27-0B01-9079D474D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6404" y="5173631"/>
                <a:ext cx="689859" cy="468270"/>
              </a:xfrm>
              <a:prstGeom prst="rect">
                <a:avLst/>
              </a:prstGeom>
              <a:blipFill>
                <a:blip r:embed="rId16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onnettore diritto 40">
            <a:extLst>
              <a:ext uri="{FF2B5EF4-FFF2-40B4-BE49-F238E27FC236}">
                <a16:creationId xmlns:a16="http://schemas.microsoft.com/office/drawing/2014/main" id="{B74DDB13-59F6-80DF-6643-1F7F8CDFAD65}"/>
              </a:ext>
            </a:extLst>
          </p:cNvPr>
          <p:cNvCxnSpPr>
            <a:cxnSpLocks/>
          </p:cNvCxnSpPr>
          <p:nvPr/>
        </p:nvCxnSpPr>
        <p:spPr>
          <a:xfrm>
            <a:off x="600075" y="1119579"/>
            <a:ext cx="1117387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28850"/>
            <a:ext cx="2614612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6137" y="2209800"/>
            <a:ext cx="2614612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2209800"/>
            <a:ext cx="2614612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96362" y="2209800"/>
            <a:ext cx="2614612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62000" y="5000625"/>
            <a:ext cx="107061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Nota Caso k Costante</a:t>
            </a:r>
            <a:r>
              <a:rPr lang="it-IT" sz="1350" b="1" i="0" u="none" strike="noStrike" cap="none" noProof="0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it-IT" sz="1350" b="0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Se k non varia (es. paracadute aperto subito o mai), la "Fase C" di apertura scompare. Il moto evolve in modo continuo verso un'unica velocità limite senza discontinuità nell'accelerazione.</a:t>
            </a:r>
            <a:endParaRPr lang="it-IT" noProof="0"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725685" y="3019425"/>
            <a:ext cx="232529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0" i="0" u="none" strike="noStrike" cap="none" noProof="0" dirty="0">
                <a:solidFill>
                  <a:srgbClr val="E2E8F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Fase A: Lancio</a:t>
            </a:r>
            <a:endParaRPr lang="it-IT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Google Shape;144;p16"/>
              <p:cNvSpPr txBox="1"/>
              <p:nvPr/>
            </p:nvSpPr>
            <p:spPr>
              <a:xfrm>
                <a:off x="781051" y="3305175"/>
                <a:ext cx="2214562" cy="12728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99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it-IT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𝑡</m:t>
                    </m:r>
                    <m:r>
                      <a:rPr lang="it-IT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=0. </m:t>
                    </m:r>
                  </m:oMath>
                </a14:m>
                <a:r>
                  <a:rPr lang="it-IT" sz="1125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Accelerazione massima verso il basso </a:t>
                </a:r>
                <a14:m>
                  <m:oMath xmlns:m="http://schemas.openxmlformats.org/officeDocument/2006/math">
                    <m:r>
                      <a:rPr lang="it-IT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(</m:t>
                    </m:r>
                    <m:sSub>
                      <m:sSubPr>
                        <m:ctrlPr>
                          <a:rPr lang="it-IT" b="0" i="1" u="none" strike="noStrike" cap="none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b="0" i="1" u="none" strike="noStrike" cap="none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𝑎</m:t>
                        </m:r>
                      </m:e>
                      <m:sub>
                        <m:r>
                          <a:rPr lang="it-IT" b="0" i="1" u="none" strike="noStrike" cap="none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𝑦</m:t>
                        </m:r>
                      </m:sub>
                    </m:sSub>
                    <m:r>
                      <a:rPr lang="it-IT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= −</m:t>
                    </m:r>
                    <m:r>
                      <a:rPr lang="it-IT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𝑔</m:t>
                    </m:r>
                  </m:oMath>
                </a14:m>
                <a:r>
                  <a:rPr lang="it-IT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). </a:t>
                </a:r>
                <a:r>
                  <a:rPr lang="it-IT" sz="1125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Resistenza nulla</a:t>
                </a:r>
                <a:r>
                  <a:rPr lang="it-IT" sz="1125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perché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𝑣</m:t>
                        </m:r>
                      </m:e>
                      <m:sub>
                        <m:r>
                          <a:rPr lang="it-IT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it-IT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dPr>
                      <m:e>
                        <m:r>
                          <a:rPr lang="it-IT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0</m:t>
                        </m:r>
                      </m:e>
                    </m:d>
                    <m:r>
                      <a:rPr lang="it-IT" i="1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=0</m:t>
                    </m:r>
                  </m:oMath>
                </a14:m>
                <a:endParaRPr lang="it-IT" noProof="0" dirty="0"/>
              </a:p>
            </p:txBody>
          </p:sp>
        </mc:Choice>
        <mc:Fallback>
          <p:sp>
            <p:nvSpPr>
              <p:cNvPr id="144" name="Google Shape;144;p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1" y="3305175"/>
                <a:ext cx="2214562" cy="1272849"/>
              </a:xfrm>
              <a:prstGeom prst="rect">
                <a:avLst/>
              </a:prstGeom>
              <a:blipFill>
                <a:blip r:embed="rId8"/>
                <a:stretch>
                  <a:fillRect l="-1102" r="-5234" b="-4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Google Shape;145;p16"/>
          <p:cNvSpPr txBox="1"/>
          <p:nvPr/>
        </p:nvSpPr>
        <p:spPr>
          <a:xfrm>
            <a:off x="3530798" y="3019425"/>
            <a:ext cx="232529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0" i="0" u="none" strike="noStrike" cap="none" noProof="0" dirty="0">
                <a:solidFill>
                  <a:srgbClr val="E2E8F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Fase B: Caduta</a:t>
            </a:r>
            <a:endParaRPr lang="it-IT" noProof="0" dirty="0"/>
          </a:p>
        </p:txBody>
      </p:sp>
      <p:sp>
        <p:nvSpPr>
          <p:cNvPr id="146" name="Google Shape;146;p16"/>
          <p:cNvSpPr txBox="1"/>
          <p:nvPr/>
        </p:nvSpPr>
        <p:spPr>
          <a:xfrm>
            <a:off x="3586162" y="3448050"/>
            <a:ext cx="2214562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9955"/>
              </a:lnSpc>
            </a:pPr>
            <a:r>
              <a:rPr lang="it-IT" sz="1125" b="0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Accelerazione decrescente fino alla prima velocità limite</a:t>
            </a:r>
            <a:endParaRPr lang="it-IT" noProof="0"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6345912" y="3028950"/>
            <a:ext cx="230528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0" i="0" u="none" strike="noStrike" cap="none" noProof="0" dirty="0">
                <a:solidFill>
                  <a:srgbClr val="E2E8F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Fase C: Apertura</a:t>
            </a:r>
            <a:endParaRPr lang="it-IT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Google Shape;148;p16"/>
              <p:cNvSpPr txBox="1"/>
              <p:nvPr/>
            </p:nvSpPr>
            <p:spPr>
              <a:xfrm>
                <a:off x="6400800" y="3457575"/>
                <a:ext cx="2195512" cy="10792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99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125" b="1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Discontinuità!</a:t>
                </a:r>
                <a:r>
                  <a:rPr lang="it-IT" sz="1125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k aumenta bruscamente.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25" b="0" i="1" u="none" strike="noStrike" cap="none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sz="1125" b="0" i="1" u="none" strike="noStrike" cap="none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𝐹</m:t>
                        </m:r>
                      </m:e>
                      <m:sub>
                        <m:r>
                          <a:rPr lang="it-IT" sz="1125" b="0" i="1" u="none" strike="noStrike" cap="none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𝑟</m:t>
                        </m:r>
                      </m:sub>
                    </m:sSub>
                    <m:r>
                      <a:rPr lang="it-IT" sz="1125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≫</m:t>
                    </m:r>
                    <m:sSub>
                      <m:sSubPr>
                        <m:ctrlPr>
                          <a:rPr lang="it-IT" sz="1125" b="0" i="1" u="none" strike="noStrike" cap="none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sz="1125" b="0" i="1" u="none" strike="noStrike" cap="none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𝐹</m:t>
                        </m:r>
                      </m:e>
                      <m:sub>
                        <m:r>
                          <a:rPr lang="it-IT" sz="1125" b="0" i="1" u="none" strike="noStrike" cap="none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it-IT" sz="1125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. accelerazione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25" b="0" i="1" u="none" strike="noStrike" cap="none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sz="1125" b="0" i="1" u="none" strike="noStrike" cap="none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𝑎</m:t>
                        </m:r>
                      </m:e>
                      <m:sub>
                        <m:r>
                          <a:rPr lang="it-IT" sz="1125" b="0" i="1" u="none" strike="noStrike" cap="none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𝑦</m:t>
                        </m:r>
                      </m:sub>
                    </m:sSub>
                    <m:r>
                      <a:rPr lang="it-IT" sz="1125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≫0</m:t>
                    </m:r>
                  </m:oMath>
                </a14:m>
                <a:endParaRPr lang="it-IT" sz="1125" b="0" i="0" u="none" strike="noStrike" cap="none" noProof="0" dirty="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ctr" rtl="0">
                  <a:lnSpc>
                    <a:spcPct val="1499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125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(frenata).</a:t>
                </a:r>
                <a:endParaRPr lang="it-IT" noProof="0" dirty="0"/>
              </a:p>
            </p:txBody>
          </p:sp>
        </mc:Choice>
        <mc:Fallback>
          <p:sp>
            <p:nvSpPr>
              <p:cNvPr id="148" name="Google Shape;148;p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457575"/>
                <a:ext cx="2195512" cy="1079270"/>
              </a:xfrm>
              <a:prstGeom prst="rect">
                <a:avLst/>
              </a:prstGeom>
              <a:blipFill>
                <a:blip r:embed="rId9"/>
                <a:stretch>
                  <a:fillRect b="-50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Google Shape;149;p16"/>
          <p:cNvSpPr txBox="1"/>
          <p:nvPr/>
        </p:nvSpPr>
        <p:spPr>
          <a:xfrm>
            <a:off x="9141023" y="3019425"/>
            <a:ext cx="232529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0" i="0" u="none" strike="noStrike" cap="none" noProof="0" dirty="0">
                <a:solidFill>
                  <a:srgbClr val="E2E8F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Fase D: Atterraggio</a:t>
            </a:r>
            <a:endParaRPr lang="it-IT" noProof="0"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9196387" y="3448050"/>
            <a:ext cx="2214562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25" b="0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Nuovo equilibrio a velocità sicura</a:t>
            </a:r>
            <a:endParaRPr lang="it-IT" noProof="0" dirty="0"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10">
            <a:alphaModFix/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674018" y="249555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11">
            <a:alphaModFix/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564856" y="2495550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327106" y="25050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13">
            <a:alphaModFix/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0089356" y="2495550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581025" y="390525"/>
            <a:ext cx="11581447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50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Evoluzione Dinamica: Le Fasi </a:t>
            </a:r>
            <a:endParaRPr lang="it-IT" noProof="0" dirty="0"/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97F4B662-8A61-9D6A-74EC-D230F02EA470}"/>
              </a:ext>
            </a:extLst>
          </p:cNvPr>
          <p:cNvCxnSpPr>
            <a:cxnSpLocks/>
          </p:cNvCxnSpPr>
          <p:nvPr/>
        </p:nvCxnSpPr>
        <p:spPr>
          <a:xfrm>
            <a:off x="581025" y="1314451"/>
            <a:ext cx="1117387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CF5E1BF-1A7A-598B-B2C2-6532BD6A23BC}"/>
              </a:ext>
            </a:extLst>
          </p:cNvPr>
          <p:cNvSpPr txBox="1"/>
          <p:nvPr/>
        </p:nvSpPr>
        <p:spPr>
          <a:xfrm>
            <a:off x="554611" y="1563833"/>
            <a:ext cx="2553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noProof="0" dirty="0">
                <a:solidFill>
                  <a:schemeClr val="bg1"/>
                </a:solidFill>
              </a:rPr>
              <a:t>Del moto sull’asse orizzontale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664C0202-5AE4-69C5-8105-B127484CB179}"/>
                  </a:ext>
                </a:extLst>
              </p:cNvPr>
              <p:cNvSpPr txBox="1"/>
              <p:nvPr/>
            </p:nvSpPr>
            <p:spPr>
              <a:xfrm>
                <a:off x="3915089" y="4025570"/>
                <a:ext cx="1556708" cy="4976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it-IT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𝑙𝑖𝑚</m:t>
                          </m:r>
                          <m:r>
                            <a:rPr lang="it-IT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it-IT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it-IT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it-IT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sSub>
                            <m:sSubPr>
                              <m:ctrlPr>
                                <a:rPr lang="it-IT" b="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it-IT" b="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𝑐h𝑖𝑢𝑠𝑜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noProof="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664C0202-5AE4-69C5-8105-B127484CB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089" y="4025570"/>
                <a:ext cx="1556708" cy="49763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41FB84C-3046-3F2D-82DA-21B7C71E77B3}"/>
                  </a:ext>
                </a:extLst>
              </p:cNvPr>
              <p:cNvSpPr txBox="1"/>
              <p:nvPr/>
            </p:nvSpPr>
            <p:spPr>
              <a:xfrm>
                <a:off x="9495174" y="4016894"/>
                <a:ext cx="1616988" cy="536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it-IT" i="0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it-IT" i="0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lim</m:t>
                          </m:r>
                          <m:r>
                            <m:rPr>
                              <m:nor/>
                            </m:rPr>
                            <a:rPr lang="it-IT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it-IT" i="0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 </m:t>
                      </m:r>
                      <m:r>
                        <m:rPr>
                          <m:nor/>
                        </m:rPr>
                        <a:rPr lang="it-IT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=</m:t>
                      </m:r>
                      <m:r>
                        <m:rPr>
                          <m:nor/>
                        </m:rPr>
                        <a:rPr lang="it-IT" i="0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 − </m:t>
                      </m:r>
                      <m:f>
                        <m:fPr>
                          <m:ctrlPr>
                            <a:rPr lang="it-IT" i="1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it-IT" i="0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m</m:t>
                          </m:r>
                          <m:r>
                            <m:rPr>
                              <m:nor/>
                            </m:rPr>
                            <a:rPr lang="it-IT" b="0" i="0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 </m:t>
                          </m:r>
                          <m:r>
                            <a:rPr lang="it-IT" b="0" i="1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it-IT" i="0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g</m:t>
                          </m:r>
                        </m:num>
                        <m:den>
                          <m:sSub>
                            <m:sSubPr>
                              <m:ctrlPr>
                                <a:rPr lang="it-IT" i="1" noProof="0" smtClean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Montserrat"/>
                                  <a:sym typeface="Montserrat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it-IT" i="0" noProof="0" smtClean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Montserrat"/>
                                  <a:sym typeface="Montserrat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it-IT" i="0" noProof="0" smtClean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Montserrat"/>
                                  <a:sym typeface="Montserrat"/>
                                </a:rPr>
                                <m:t>aperto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noProof="0" dirty="0"/>
              </a:p>
            </p:txBody>
          </p:sp>
        </mc:Choice>
        <mc:Fallback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41FB84C-3046-3F2D-82DA-21B7C71E7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5174" y="4016894"/>
                <a:ext cx="1616988" cy="536429"/>
              </a:xfrm>
              <a:prstGeom prst="rect">
                <a:avLst/>
              </a:prstGeom>
              <a:blipFill>
                <a:blip r:embed="rId15"/>
                <a:stretch>
                  <a:fillRect b="-34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oogle Shape;137;p16" descr="image.png"/>
          <p:cNvPicPr preferRelativeResize="0"/>
          <p:nvPr/>
        </p:nvPicPr>
        <p:blipFill rotWithShape="1">
          <a:blip r:embed="rId16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00075" y="4903624"/>
            <a:ext cx="1102995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581025" y="1716693"/>
            <a:ext cx="5590698" cy="300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79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La Classe</a:t>
            </a:r>
            <a:endParaRPr lang="it-IT" noProof="0" dirty="0"/>
          </a:p>
        </p:txBody>
      </p:sp>
      <p:sp>
        <p:nvSpPr>
          <p:cNvPr id="189" name="Google Shape;189;p18"/>
          <p:cNvSpPr txBox="1"/>
          <p:nvPr/>
        </p:nvSpPr>
        <p:spPr>
          <a:xfrm>
            <a:off x="537615" y="2048054"/>
            <a:ext cx="53244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 dirty="0">
                <a:solidFill>
                  <a:srgbClr val="CBD5E1"/>
                </a:solidFill>
                <a:latin typeface="Montserrat"/>
              </a:rPr>
              <a:t>La programmazione a oggetti garantisce l’incapsulamento dei parametri fisici del sistema </a:t>
            </a:r>
          </a:p>
        </p:txBody>
      </p:sp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5145" y="1784644"/>
            <a:ext cx="1190625" cy="3333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Google Shape;191;p18"/>
              <p:cNvSpPr txBox="1"/>
              <p:nvPr/>
            </p:nvSpPr>
            <p:spPr>
              <a:xfrm>
                <a:off x="809386" y="2701434"/>
                <a:ext cx="5133975" cy="406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b="1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Attributi</a:t>
                </a:r>
                <a:r>
                  <a:rPr lang="it-IT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: </a:t>
                </a:r>
                <a14:m>
                  <m:oMath xmlns:m="http://schemas.openxmlformats.org/officeDocument/2006/math">
                    <m:r>
                      <a:rPr lang="it-IT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𝑚</m:t>
                    </m:r>
                    <m:r>
                      <a:rPr lang="it-IT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, </m:t>
                    </m:r>
                    <m:sSub>
                      <m:sSubPr>
                        <m:ctrlPr>
                          <a:rPr lang="it-IT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h</m:t>
                        </m:r>
                      </m:e>
                      <m:sub>
                        <m:r>
                          <a:rPr lang="it-IT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0</m:t>
                        </m:r>
                      </m:sub>
                    </m:sSub>
                    <m:r>
                      <a:rPr lang="it-IT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,  </m:t>
                    </m:r>
                    <m:sSub>
                      <m:sSubPr>
                        <m:ctrlPr>
                          <a:rPr lang="it-IT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𝑣</m:t>
                        </m:r>
                      </m:e>
                      <m:sub>
                        <m:r>
                          <a:rPr lang="it-IT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0</m:t>
                        </m:r>
                      </m:sub>
                    </m:sSub>
                    <m:r>
                      <a:rPr lang="it-IT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,</m:t>
                    </m:r>
                    <m:sSub>
                      <m:sSubPr>
                        <m:ctrlPr>
                          <a:rPr lang="it-IT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  </m:t>
                        </m:r>
                        <m:r>
                          <a:rPr lang="it-IT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𝑘</m:t>
                        </m:r>
                      </m:e>
                      <m:sub>
                        <m:r>
                          <a:rPr lang="it-IT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𝑎𝑝𝑒𝑟𝑡𝑜</m:t>
                        </m:r>
                      </m:sub>
                    </m:sSub>
                    <m:r>
                      <a:rPr lang="it-IT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,   </m:t>
                    </m:r>
                    <m:sSub>
                      <m:sSubPr>
                        <m:ctrlPr>
                          <a:rPr lang="it-IT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𝑘</m:t>
                        </m:r>
                      </m:e>
                      <m:sub>
                        <m:r>
                          <a:rPr lang="it-IT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𝑐h𝑖𝑢𝑠𝑜</m:t>
                        </m:r>
                      </m:sub>
                    </m:sSub>
                    <m:r>
                      <a:rPr lang="it-IT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,</m:t>
                    </m:r>
                    <m:sSub>
                      <m:sSubPr>
                        <m:ctrlPr>
                          <a:rPr lang="it-IT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  </m:t>
                        </m:r>
                        <m:r>
                          <a:rPr lang="it-IT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h</m:t>
                        </m:r>
                      </m:e>
                      <m:sub>
                        <m:r>
                          <a:rPr lang="it-IT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it-IT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.</a:t>
                </a:r>
                <a:endParaRPr lang="it-IT" noProof="0" dirty="0">
                  <a:solidFill>
                    <a:srgbClr val="CBD5E1"/>
                  </a:solidFill>
                  <a:latin typeface="Montserrat"/>
                  <a:ea typeface="Montserrat"/>
                  <a:cs typeface="Montserrat"/>
                </a:endParaRPr>
              </a:p>
            </p:txBody>
          </p:sp>
        </mc:Choice>
        <mc:Fallback>
          <p:sp>
            <p:nvSpPr>
              <p:cNvPr id="191" name="Google Shape;191;p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86" y="2701434"/>
                <a:ext cx="5133975" cy="406458"/>
              </a:xfrm>
              <a:prstGeom prst="rect">
                <a:avLst/>
              </a:prstGeom>
              <a:blipFill>
                <a:blip r:embed="rId5"/>
                <a:stretch>
                  <a:fillRect l="-21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2" name="Google Shape;192;p18"/>
          <p:cNvSpPr txBox="1"/>
          <p:nvPr/>
        </p:nvSpPr>
        <p:spPr>
          <a:xfrm>
            <a:off x="809386" y="3197332"/>
            <a:ext cx="67536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it-IT" noProof="0" dirty="0">
                <a:solidFill>
                  <a:srgbClr val="CBD5E1"/>
                </a:solidFill>
                <a:latin typeface="Montserrat"/>
              </a:rPr>
              <a:t>implementazione di logica di controllo per garantire il funzionamento anche nella configurazione in cui k=costante</a:t>
            </a:r>
          </a:p>
        </p:txBody>
      </p:sp>
      <p:sp>
        <p:nvSpPr>
          <p:cNvPr id="193" name="Google Shape;193;p18"/>
          <p:cNvSpPr txBox="1"/>
          <p:nvPr/>
        </p:nvSpPr>
        <p:spPr>
          <a:xfrm>
            <a:off x="479532" y="3881409"/>
            <a:ext cx="53244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0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Riduzione al Primo Ordine e raggruppamento in un unica variabile di stato S per </a:t>
            </a:r>
            <a:endParaRPr lang="it-IT" noProof="0" dirty="0"/>
          </a:p>
        </p:txBody>
      </p:sp>
      <p:sp>
        <p:nvSpPr>
          <p:cNvPr id="194" name="Google Shape;194;p18"/>
          <p:cNvSpPr txBox="1"/>
          <p:nvPr/>
        </p:nvSpPr>
        <p:spPr>
          <a:xfrm>
            <a:off x="581025" y="2766891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571500" y="3223527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Google Shape;196;p18"/>
              <p:cNvSpPr txBox="1"/>
              <p:nvPr/>
            </p:nvSpPr>
            <p:spPr>
              <a:xfrm>
                <a:off x="771526" y="4522306"/>
                <a:ext cx="620642" cy="31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accPr>
                        <m:e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𝑥</m:t>
                          </m:r>
                        </m:e>
                      </m:acc>
                      <m:r>
                        <a:rPr lang="it-IT" sz="1350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=</m:t>
                      </m:r>
                      <m:sSub>
                        <m:sSubPr>
                          <m:ctrlP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𝑣</m:t>
                          </m:r>
                        </m:e>
                        <m:sub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it-IT" noProof="0" dirty="0"/>
              </a:p>
            </p:txBody>
          </p:sp>
        </mc:Choice>
        <mc:Fallback>
          <p:sp>
            <p:nvSpPr>
              <p:cNvPr id="196" name="Google Shape;196;p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6" y="4522306"/>
                <a:ext cx="620642" cy="3116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Google Shape;197;p18"/>
              <p:cNvSpPr txBox="1"/>
              <p:nvPr/>
            </p:nvSpPr>
            <p:spPr>
              <a:xfrm>
                <a:off x="659197" y="4961784"/>
                <a:ext cx="1450009" cy="31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1350" b="0" i="1" u="none" strike="noStrike" cap="none" noProof="0" smtClean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Montserrat"/>
                                  <a:sym typeface="Montserrat"/>
                                </a:rPr>
                              </m:ctrlPr>
                            </m:sSubPr>
                            <m:e>
                              <m:r>
                                <a:rPr lang="it-IT" sz="1350" b="0" i="1" u="none" strike="noStrike" cap="none" noProof="0" smtClean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Montserrat"/>
                                  <a:sym typeface="Montserrat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it-IT" sz="1350" b="0" i="1" u="none" strike="noStrike" cap="none" noProof="0" smtClean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Montserrat"/>
                                  <a:sym typeface="Montserrat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lang="it-IT" sz="1350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=−</m:t>
                      </m:r>
                      <m:d>
                        <m:dPr>
                          <m:ctrlP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dPr>
                        <m:e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𝑘</m:t>
                          </m:r>
                          <m:r>
                            <m:rPr>
                              <m:lit/>
                            </m:rP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/</m:t>
                          </m:r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𝑚</m:t>
                          </m:r>
                        </m:e>
                      </m:d>
                      <m:sSub>
                        <m:sSubPr>
                          <m:ctrlP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𝑣</m:t>
                          </m:r>
                        </m:e>
                        <m:sub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it-IT" noProof="0" dirty="0"/>
              </a:p>
            </p:txBody>
          </p:sp>
        </mc:Choice>
        <mc:Fallback>
          <p:sp>
            <p:nvSpPr>
              <p:cNvPr id="197" name="Google Shape;197;p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97" y="4961784"/>
                <a:ext cx="1450009" cy="311624"/>
              </a:xfrm>
              <a:prstGeom prst="rect">
                <a:avLst/>
              </a:prstGeom>
              <a:blipFill>
                <a:blip r:embed="rId7"/>
                <a:stretch>
                  <a:fillRect b="-117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Google Shape;198;p18"/>
              <p:cNvSpPr txBox="1"/>
              <p:nvPr/>
            </p:nvSpPr>
            <p:spPr>
              <a:xfrm>
                <a:off x="733129" y="5375571"/>
                <a:ext cx="633186" cy="336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accPr>
                        <m:e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𝑦</m:t>
                          </m:r>
                        </m:e>
                      </m:acc>
                      <m:r>
                        <a:rPr lang="it-IT" sz="1350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=</m:t>
                      </m:r>
                      <m:sSub>
                        <m:sSubPr>
                          <m:ctrlP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𝑣</m:t>
                          </m:r>
                        </m:e>
                        <m:sub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it-IT" noProof="0" dirty="0"/>
              </a:p>
            </p:txBody>
          </p:sp>
        </mc:Choice>
        <mc:Fallback>
          <p:sp>
            <p:nvSpPr>
              <p:cNvPr id="198" name="Google Shape;198;p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29" y="5375571"/>
                <a:ext cx="633186" cy="336182"/>
              </a:xfrm>
              <a:prstGeom prst="rect">
                <a:avLst/>
              </a:prstGeom>
              <a:blipFill>
                <a:blip r:embed="rId8"/>
                <a:stretch>
                  <a:fillRect b="-54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9" name="Google Shape;199;p18"/>
              <p:cNvSpPr txBox="1"/>
              <p:nvPr/>
            </p:nvSpPr>
            <p:spPr>
              <a:xfrm>
                <a:off x="733129" y="5857758"/>
                <a:ext cx="1608818" cy="336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1350" b="0" i="1" u="none" strike="noStrike" cap="none" noProof="0" smtClean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Montserrat"/>
                                  <a:sym typeface="Montserrat"/>
                                </a:rPr>
                              </m:ctrlPr>
                            </m:sSubPr>
                            <m:e>
                              <m:r>
                                <a:rPr lang="it-IT" sz="1350" b="0" i="1" u="none" strike="noStrike" cap="none" noProof="0" smtClean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Montserrat"/>
                                  <a:sym typeface="Montserrat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it-IT" sz="1350" b="0" i="1" u="none" strike="noStrike" cap="none" noProof="0" smtClean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  <a:ea typeface="Montserrat"/>
                                  <a:cs typeface="Montserrat"/>
                                  <a:sym typeface="Montserrat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lang="it-IT" sz="1350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=−</m:t>
                      </m:r>
                      <m:r>
                        <a:rPr lang="it-IT" sz="1350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𝑔</m:t>
                      </m:r>
                      <m:r>
                        <a:rPr lang="it-IT" sz="1350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−</m:t>
                      </m:r>
                      <m:d>
                        <m:dPr>
                          <m:ctrlP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dPr>
                        <m:e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𝑘</m:t>
                          </m:r>
                          <m:r>
                            <m:rPr>
                              <m:lit/>
                            </m:rP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/</m:t>
                          </m:r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𝑚</m:t>
                          </m:r>
                        </m:e>
                      </m:d>
                      <m:sSub>
                        <m:sSubPr>
                          <m:ctrlP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𝑣</m:t>
                          </m:r>
                        </m:e>
                        <m:sub>
                          <m:r>
                            <a:rPr lang="it-IT" sz="1350" b="0" i="1" u="none" strike="noStrike" cap="none" noProof="0" smtClean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it-IT" noProof="0" dirty="0"/>
              </a:p>
            </p:txBody>
          </p:sp>
        </mc:Choice>
        <mc:Fallback>
          <p:sp>
            <p:nvSpPr>
              <p:cNvPr id="199" name="Google Shape;199;p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29" y="5857758"/>
                <a:ext cx="1608818" cy="336182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18"/>
          <p:cNvSpPr txBox="1"/>
          <p:nvPr/>
        </p:nvSpPr>
        <p:spPr>
          <a:xfrm>
            <a:off x="523420" y="4531765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508606" y="4961784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508833" y="5433332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523420" y="5913611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581025" y="390525"/>
            <a:ext cx="11581447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50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Modulo 1: paracadute1.py</a:t>
            </a:r>
            <a:endParaRPr lang="it-IT" noProof="0" dirty="0"/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D3386FB4-C1A2-A09F-3EF3-ADFD48F53760}"/>
              </a:ext>
            </a:extLst>
          </p:cNvPr>
          <p:cNvCxnSpPr>
            <a:cxnSpLocks/>
          </p:cNvCxnSpPr>
          <p:nvPr/>
        </p:nvCxnSpPr>
        <p:spPr>
          <a:xfrm>
            <a:off x="509060" y="1569285"/>
            <a:ext cx="1117387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Google Shape;118;p15" descr="image.png">
            <a:extLst>
              <a:ext uri="{FF2B5EF4-FFF2-40B4-BE49-F238E27FC236}">
                <a16:creationId xmlns:a16="http://schemas.microsoft.com/office/drawing/2014/main" id="{D995C239-CB67-B8EA-CA0F-8AA6C0F69E73}"/>
              </a:ext>
            </a:extLst>
          </p:cNvPr>
          <p:cNvPicPr preferRelativeResize="0"/>
          <p:nvPr/>
        </p:nvPicPr>
        <p:blipFill rotWithShape="1"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  <a:alphaModFix amt="62000"/>
          </a:blip>
          <a:srcRect/>
          <a:stretch/>
        </p:blipFill>
        <p:spPr>
          <a:xfrm>
            <a:off x="8190095" y="1780185"/>
            <a:ext cx="2437932" cy="1431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BAA11F1-5478-EFBF-FA64-21EE436DF662}"/>
              </a:ext>
            </a:extLst>
          </p:cNvPr>
          <p:cNvSpPr txBox="1"/>
          <p:nvPr/>
        </p:nvSpPr>
        <p:spPr>
          <a:xfrm>
            <a:off x="8323206" y="1995543"/>
            <a:ext cx="2171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if kc == None:</a:t>
            </a: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    self.kc = ka</a:t>
            </a: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    self.kc = kc</a:t>
            </a:r>
          </a:p>
        </p:txBody>
      </p:sp>
      <p:pic>
        <p:nvPicPr>
          <p:cNvPr id="7" name="Google Shape;118;p15" descr="image.png">
            <a:extLst>
              <a:ext uri="{FF2B5EF4-FFF2-40B4-BE49-F238E27FC236}">
                <a16:creationId xmlns:a16="http://schemas.microsoft.com/office/drawing/2014/main" id="{7C4EAB2E-C7D7-728F-BDCF-4DB427DD25F7}"/>
              </a:ext>
            </a:extLst>
          </p:cNvPr>
          <p:cNvPicPr preferRelativeResize="0"/>
          <p:nvPr/>
        </p:nvPicPr>
        <p:blipFill rotWithShape="1"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  <a:alphaModFix amt="62000"/>
          </a:blip>
          <a:srcRect/>
          <a:stretch/>
        </p:blipFill>
        <p:spPr>
          <a:xfrm>
            <a:off x="7506100" y="3646017"/>
            <a:ext cx="4176839" cy="300500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ADB6A79-3340-7F52-D131-DF388924D5E4}"/>
              </a:ext>
            </a:extLst>
          </p:cNvPr>
          <p:cNvSpPr txBox="1"/>
          <p:nvPr/>
        </p:nvSpPr>
        <p:spPr>
          <a:xfrm>
            <a:off x="7686376" y="3660669"/>
            <a:ext cx="482270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def moto_paracadute(self, s, t):</a:t>
            </a: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       dxdt = s[2]</a:t>
            </a: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       dydt = s[3]</a:t>
            </a: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       if s[1] &gt; self.ht:</a:t>
            </a: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	 k = self.kc</a:t>
            </a: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       else:</a:t>
            </a: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	 k = self.ka</a:t>
            </a: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       </a:t>
            </a: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       dvxdt = - (k/self.m)*s[2]</a:t>
            </a: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       dvydt = - (k/self.m)*s[3] – g</a:t>
            </a:r>
          </a:p>
          <a:p>
            <a:endParaRPr lang="it-IT" noProof="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it-IT" noProof="0" dirty="0">
                <a:solidFill>
                  <a:schemeClr val="bg1"/>
                </a:solidFill>
                <a:latin typeface="Consolas" panose="020B0609020204030204" pitchFamily="49" charset="0"/>
              </a:rPr>
              <a:t>return (dxdt, dydt, dvxdt, dvydt) 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       </a:t>
            </a:r>
          </a:p>
          <a:p>
            <a:endParaRPr lang="it-IT" noProof="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04B6BD1-2C62-3E9E-39DA-EDE6CC1F36E5}"/>
              </a:ext>
            </a:extLst>
          </p:cNvPr>
          <p:cNvSpPr txBox="1"/>
          <p:nvPr/>
        </p:nvSpPr>
        <p:spPr>
          <a:xfrm>
            <a:off x="479532" y="1102868"/>
            <a:ext cx="11712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0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Sviluppo di un modulo Python per la risoluzione dell'equazione differenziale del moto in regime di attrito viscoso</a:t>
            </a:r>
            <a:endParaRPr lang="it-IT" noProof="0" dirty="0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00437497-6EAB-5236-177D-88FE68EADBB3}"/>
              </a:ext>
            </a:extLst>
          </p:cNvPr>
          <p:cNvSpPr/>
          <p:nvPr/>
        </p:nvSpPr>
        <p:spPr>
          <a:xfrm>
            <a:off x="2477462" y="4223637"/>
            <a:ext cx="898911" cy="253499"/>
          </a:xfrm>
          <a:prstGeom prst="roundRect">
            <a:avLst/>
          </a:prstGeom>
          <a:solidFill>
            <a:srgbClr val="0F172A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noProof="0" dirty="0">
                <a:solidFill>
                  <a:srgbClr val="A5B5FD"/>
                </a:solidFill>
                <a:latin typeface="Consolas" panose="020B0609020204030204" pitchFamily="49" charset="0"/>
              </a:rPr>
              <a:t>odeint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604" y="1357312"/>
            <a:ext cx="5324475" cy="50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8464" y="1319442"/>
            <a:ext cx="5324475" cy="50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1020866" y="1428153"/>
            <a:ext cx="497062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noProof="0" dirty="0">
                <a:solidFill>
                  <a:srgbClr val="436C9E"/>
                </a:solidFill>
                <a:latin typeface="Montserrat ExtraBold"/>
              </a:rPr>
              <a:t>Perché integrate.odeint?</a:t>
            </a:r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59392" y="1548735"/>
            <a:ext cx="22383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8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836818" y="1602001"/>
            <a:ext cx="22383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581025" y="3905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50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Il Cuore Numerico: Funzionamento di odeint</a:t>
            </a:r>
            <a:endParaRPr lang="it-IT" noProof="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0ACFCBF-506A-FFCE-9EB9-9D62A99B1E17}"/>
              </a:ext>
            </a:extLst>
          </p:cNvPr>
          <p:cNvSpPr txBox="1"/>
          <p:nvPr/>
        </p:nvSpPr>
        <p:spPr>
          <a:xfrm>
            <a:off x="876297" y="4679859"/>
            <a:ext cx="44932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b="1" noProof="0" dirty="0">
                <a:solidFill>
                  <a:srgbClr val="CBD5E1"/>
                </a:solidFill>
                <a:latin typeface="Montserrat"/>
              </a:rPr>
              <a:t>Efficienza Computazionale: </a:t>
            </a:r>
            <a:r>
              <a:rPr lang="it-IT" noProof="0" dirty="0">
                <a:solidFill>
                  <a:srgbClr val="CBD5E1"/>
                </a:solidFill>
                <a:latin typeface="Montserrat"/>
              </a:rPr>
              <a:t>Ottimizza le risorse accelerando il calcolo nelle fasi di moto uniforme e rallentando solo dove la variazione delle forze è critica.</a:t>
            </a:r>
          </a:p>
          <a:p>
            <a:endParaRPr lang="it-IT" noProof="0" dirty="0"/>
          </a:p>
        </p:txBody>
      </p:sp>
      <p:sp>
        <p:nvSpPr>
          <p:cNvPr id="7" name="Google Shape;200;p18">
            <a:extLst>
              <a:ext uri="{FF2B5EF4-FFF2-40B4-BE49-F238E27FC236}">
                <a16:creationId xmlns:a16="http://schemas.microsoft.com/office/drawing/2014/main" id="{2DCEED18-D727-2619-6039-F1A001846BBF}"/>
              </a:ext>
            </a:extLst>
          </p:cNvPr>
          <p:cNvSpPr txBox="1"/>
          <p:nvPr/>
        </p:nvSpPr>
        <p:spPr>
          <a:xfrm>
            <a:off x="823910" y="4629438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22A9A06-271F-6A43-2665-953E08869996}"/>
              </a:ext>
            </a:extLst>
          </p:cNvPr>
          <p:cNvSpPr txBox="1"/>
          <p:nvPr/>
        </p:nvSpPr>
        <p:spPr>
          <a:xfrm>
            <a:off x="928686" y="1981095"/>
            <a:ext cx="46053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b="1" noProof="0" dirty="0">
                <a:solidFill>
                  <a:srgbClr val="CBD5E1"/>
                </a:solidFill>
                <a:latin typeface="Montserrat"/>
              </a:rPr>
              <a:t>Risoluzione Numerica</a:t>
            </a:r>
            <a:r>
              <a:rPr lang="it-IT" noProof="0" dirty="0">
                <a:solidFill>
                  <a:srgbClr val="CBD5E1"/>
                </a:solidFill>
                <a:latin typeface="Montserrat"/>
              </a:rPr>
              <a:t>: Riceve lo stato iniziale, calcola l'evoluzione temporale del sistema integrando le equazioni del moto passo dopo passo.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C7E1072-1CF1-9AD8-2F7B-06BFB1CE3EB8}"/>
              </a:ext>
            </a:extLst>
          </p:cNvPr>
          <p:cNvSpPr txBox="1"/>
          <p:nvPr/>
        </p:nvSpPr>
        <p:spPr>
          <a:xfrm>
            <a:off x="928685" y="2917521"/>
            <a:ext cx="484608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b="1" noProof="0" dirty="0">
                <a:solidFill>
                  <a:srgbClr val="CBD5E1"/>
                </a:solidFill>
                <a:latin typeface="Montserrat"/>
              </a:rPr>
              <a:t>Passo Adattativo</a:t>
            </a:r>
            <a:r>
              <a:rPr lang="it-IT" noProof="0" dirty="0">
                <a:solidFill>
                  <a:srgbClr val="CBD5E1"/>
                </a:solidFill>
                <a:latin typeface="Montserrat"/>
              </a:rPr>
              <a:t>: Regola automaticamente la dimensione dell'intervallo temporale in base alla complessità della dinamica e all'errore stimato.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BDDDE9C-BF94-D634-CC2B-33F6E3E352AE}"/>
              </a:ext>
            </a:extLst>
          </p:cNvPr>
          <p:cNvSpPr txBox="1"/>
          <p:nvPr/>
        </p:nvSpPr>
        <p:spPr>
          <a:xfrm>
            <a:off x="911780" y="3675331"/>
            <a:ext cx="46053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b="1" noProof="0" dirty="0">
                <a:solidFill>
                  <a:srgbClr val="CBD5E1"/>
                </a:solidFill>
                <a:latin typeface="Montserrat"/>
              </a:rPr>
              <a:t>Gestione della Decelerazione</a:t>
            </a:r>
            <a:r>
              <a:rPr lang="it-IT" noProof="0" dirty="0">
                <a:solidFill>
                  <a:srgbClr val="CBD5E1"/>
                </a:solidFill>
                <a:latin typeface="Montserrat"/>
              </a:rPr>
              <a:t>: In corrispondenza dell'apertura del paracadute, rileva il brusco cambio della legge fisica e riduce il passo per garantire la massima precisione.</a:t>
            </a:r>
          </a:p>
        </p:txBody>
      </p:sp>
      <p:sp>
        <p:nvSpPr>
          <p:cNvPr id="16" name="Google Shape;200;p18">
            <a:extLst>
              <a:ext uri="{FF2B5EF4-FFF2-40B4-BE49-F238E27FC236}">
                <a16:creationId xmlns:a16="http://schemas.microsoft.com/office/drawing/2014/main" id="{5466CFF8-3724-D37F-6DA0-820133B6715D}"/>
              </a:ext>
            </a:extLst>
          </p:cNvPr>
          <p:cNvSpPr txBox="1"/>
          <p:nvPr/>
        </p:nvSpPr>
        <p:spPr>
          <a:xfrm>
            <a:off x="823910" y="3644605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17" name="Google Shape;200;p18">
            <a:extLst>
              <a:ext uri="{FF2B5EF4-FFF2-40B4-BE49-F238E27FC236}">
                <a16:creationId xmlns:a16="http://schemas.microsoft.com/office/drawing/2014/main" id="{7570FCBA-F3F0-EBA5-3DF6-3BE8B7166F5E}"/>
              </a:ext>
            </a:extLst>
          </p:cNvPr>
          <p:cNvSpPr txBox="1"/>
          <p:nvPr/>
        </p:nvSpPr>
        <p:spPr>
          <a:xfrm>
            <a:off x="823910" y="2870971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18" name="Google Shape;200;p18">
            <a:extLst>
              <a:ext uri="{FF2B5EF4-FFF2-40B4-BE49-F238E27FC236}">
                <a16:creationId xmlns:a16="http://schemas.microsoft.com/office/drawing/2014/main" id="{D3221738-3CBE-8F93-2781-25C888754E80}"/>
              </a:ext>
            </a:extLst>
          </p:cNvPr>
          <p:cNvSpPr txBox="1"/>
          <p:nvPr/>
        </p:nvSpPr>
        <p:spPr>
          <a:xfrm>
            <a:off x="823910" y="1965338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E997D19A-8317-380D-1BF0-E4EED99DE228}"/>
              </a:ext>
            </a:extLst>
          </p:cNvPr>
          <p:cNvCxnSpPr>
            <a:cxnSpLocks/>
          </p:cNvCxnSpPr>
          <p:nvPr/>
        </p:nvCxnSpPr>
        <p:spPr>
          <a:xfrm>
            <a:off x="509060" y="1169308"/>
            <a:ext cx="1117387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39712264-09F3-4024-5A34-07878F13A6F0}"/>
              </a:ext>
            </a:extLst>
          </p:cNvPr>
          <p:cNvSpPr txBox="1"/>
          <p:nvPr/>
        </p:nvSpPr>
        <p:spPr>
          <a:xfrm>
            <a:off x="6814528" y="2270717"/>
            <a:ext cx="44123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solidFill>
                  <a:srgbClr val="CBD5E1"/>
                </a:solidFill>
                <a:latin typeface="Montserrat"/>
              </a:rPr>
              <a:t>Tempo di campionamento: </a:t>
            </a:r>
            <a:r>
              <a:rPr lang="it-IT" noProof="0" dirty="0">
                <a:solidFill>
                  <a:srgbClr val="CBD5E1"/>
                </a:solidFill>
                <a:latin typeface="Montserrat"/>
              </a:rPr>
              <a:t>L'efficienza e la precisione computazionale sono state ottimizzate adattando l’intervallo temporale ed il campionamento alle specifiche del moto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6D729D0-35DC-E95B-8248-9D619B949B7C}"/>
              </a:ext>
            </a:extLst>
          </p:cNvPr>
          <p:cNvSpPr txBox="1"/>
          <p:nvPr/>
        </p:nvSpPr>
        <p:spPr>
          <a:xfrm>
            <a:off x="6742564" y="4369007"/>
            <a:ext cx="44123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solidFill>
                  <a:srgbClr val="CBD5E1"/>
                </a:solidFill>
                <a:latin typeface="Montserrat"/>
              </a:rPr>
              <a:t>Filtraggio: </a:t>
            </a:r>
            <a:r>
              <a:rPr lang="it-IT" noProof="0" dirty="0">
                <a:solidFill>
                  <a:srgbClr val="CBD5E1"/>
                </a:solidFill>
                <a:latin typeface="Montserrat"/>
              </a:rPr>
              <a:t>arresto al suolo è gestito tramite una maschera booleana che rimuove i dati negativi, accettando un errore di posizione finale assolutamente trascurabile rispetto alla scala del problema.</a:t>
            </a:r>
          </a:p>
        </p:txBody>
      </p:sp>
      <p:pic>
        <p:nvPicPr>
          <p:cNvPr id="2" name="Google Shape;118;p15" descr="image.png">
            <a:extLst>
              <a:ext uri="{FF2B5EF4-FFF2-40B4-BE49-F238E27FC236}">
                <a16:creationId xmlns:a16="http://schemas.microsoft.com/office/drawing/2014/main" id="{2129AF48-6A59-0976-21CC-77A950AE2CCD}"/>
              </a:ext>
            </a:extLst>
          </p:cNvPr>
          <p:cNvPicPr preferRelativeResize="0"/>
          <p:nvPr/>
        </p:nvPicPr>
        <p:blipFill rotWithShape="1"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  <a:alphaModFix amt="62000"/>
          </a:blip>
          <a:srcRect/>
          <a:stretch/>
        </p:blipFill>
        <p:spPr>
          <a:xfrm>
            <a:off x="911781" y="5721792"/>
            <a:ext cx="4790164" cy="5440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D8F5184-48FB-2DE6-5E78-81C605022691}"/>
              </a:ext>
            </a:extLst>
          </p:cNvPr>
          <p:cNvSpPr txBox="1"/>
          <p:nvPr/>
        </p:nvSpPr>
        <p:spPr>
          <a:xfrm>
            <a:off x="972048" y="5838489"/>
            <a:ext cx="5514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noProof="0" dirty="0">
                <a:solidFill>
                  <a:schemeClr val="bg1"/>
                </a:solidFill>
                <a:latin typeface="Consolas" panose="020B0609020204030204" pitchFamily="49" charset="0"/>
              </a:rPr>
              <a:t>sol=integrate.odeint(self.moto_paracadute, s_iniz, 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2C2331B-0D2B-2A21-318C-9551AD4EBF15}"/>
              </a:ext>
            </a:extLst>
          </p:cNvPr>
          <p:cNvSpPr txBox="1"/>
          <p:nvPr/>
        </p:nvSpPr>
        <p:spPr>
          <a:xfrm>
            <a:off x="4332398" y="147538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1600" b="1" i="0" u="none" strike="noStrike" noProof="0" dirty="0">
                <a:solidFill>
                  <a:srgbClr val="F1F5F9"/>
                </a:solidFill>
                <a:effectLst/>
                <a:latin typeface="Montserrat" panose="00000500000000000000" pitchFamily="2" charset="0"/>
              </a:rPr>
              <a:t>Interfaccia con Argparse</a:t>
            </a:r>
            <a:endParaRPr lang="it-IT" sz="1600" b="0" noProof="0" dirty="0">
              <a:effectLst/>
            </a:endParaRPr>
          </a:p>
          <a:p>
            <a:pPr>
              <a:buNone/>
            </a:pPr>
            <a:br>
              <a:rPr lang="it-IT" sz="1600" noProof="0" dirty="0"/>
            </a:br>
            <a:endParaRPr lang="it-IT" sz="1600" noProof="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25A9E60-FDC7-2417-C287-2DFB935BDC33}"/>
              </a:ext>
            </a:extLst>
          </p:cNvPr>
          <p:cNvSpPr txBox="1"/>
          <p:nvPr/>
        </p:nvSpPr>
        <p:spPr>
          <a:xfrm>
            <a:off x="355599" y="342861"/>
            <a:ext cx="8556171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3150" noProof="0" dirty="0">
                <a:solidFill>
                  <a:srgbClr val="F1F5F9"/>
                </a:solidFill>
                <a:latin typeface="Montserrat ExtraBold"/>
              </a:rPr>
              <a:t>Modulo 2: Analisi Dati</a:t>
            </a:r>
            <a:br>
              <a:rPr lang="it-IT" noProof="0" dirty="0"/>
            </a:br>
            <a:endParaRPr lang="it-IT" noProof="0" dirty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00E0A61D-865E-9804-FC5A-538C84EDE7AF}"/>
              </a:ext>
            </a:extLst>
          </p:cNvPr>
          <p:cNvCxnSpPr>
            <a:cxnSpLocks/>
          </p:cNvCxnSpPr>
          <p:nvPr/>
        </p:nvCxnSpPr>
        <p:spPr>
          <a:xfrm>
            <a:off x="355599" y="1135386"/>
            <a:ext cx="1117387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6" name="Picture 2">
            <a:extLst>
              <a:ext uri="{FF2B5EF4-FFF2-40B4-BE49-F238E27FC236}">
                <a16:creationId xmlns:a16="http://schemas.microsoft.com/office/drawing/2014/main" id="{EE786826-A86C-8B26-21BB-042A5A9C0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272" y="1965157"/>
            <a:ext cx="1028700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0FC0E6C-5856-30BD-CC75-291F26696B3E}"/>
              </a:ext>
            </a:extLst>
          </p:cNvPr>
          <p:cNvSpPr txBox="1"/>
          <p:nvPr/>
        </p:nvSpPr>
        <p:spPr>
          <a:xfrm>
            <a:off x="2031133" y="1987981"/>
            <a:ext cx="83860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1400" b="0" i="0" u="none" strike="noStrike" noProof="0" dirty="0">
                <a:solidFill>
                  <a:srgbClr val="CBD5E1"/>
                </a:solidFill>
                <a:effectLst/>
                <a:latin typeface="Montserrat" panose="00000500000000000000" pitchFamily="2" charset="0"/>
              </a:rPr>
              <a:t>Utilizzo della libreria                          per rendere il codice flessibile ed eseguibile da terminale.</a:t>
            </a:r>
            <a:endParaRPr lang="it-IT" b="0" noProof="0" dirty="0">
              <a:effectLst/>
            </a:endParaRPr>
          </a:p>
          <a:p>
            <a:pPr>
              <a:buNone/>
            </a:pPr>
            <a:br>
              <a:rPr lang="it-IT" noProof="0" dirty="0"/>
            </a:br>
            <a:endParaRPr lang="it-IT" noProof="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7686F5A-6185-8E5C-5BFB-3DE1A2E3E07F}"/>
              </a:ext>
            </a:extLst>
          </p:cNvPr>
          <p:cNvSpPr txBox="1"/>
          <p:nvPr/>
        </p:nvSpPr>
        <p:spPr>
          <a:xfrm>
            <a:off x="3116345" y="2587159"/>
            <a:ext cx="6197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1400" b="0" i="0" u="none" strike="noStrike" noProof="0" dirty="0">
                <a:solidFill>
                  <a:srgbClr val="CBD5E1"/>
                </a:solidFill>
                <a:effectLst/>
                <a:latin typeface="Montserrat" panose="00000500000000000000" pitchFamily="2" charset="0"/>
              </a:rPr>
              <a:t>Permette di variare massa, quota, e coefficienti senza modificare il sorgente.</a:t>
            </a:r>
            <a:endParaRPr lang="it-IT" b="0" noProof="0" dirty="0">
              <a:effectLst/>
            </a:endParaRPr>
          </a:p>
          <a:p>
            <a:pPr>
              <a:buNone/>
            </a:pPr>
            <a:br>
              <a:rPr lang="it-IT" noProof="0" dirty="0"/>
            </a:br>
            <a:endParaRPr lang="it-IT" noProof="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5657309-4134-385C-23E5-04EB4CCFB866}"/>
              </a:ext>
            </a:extLst>
          </p:cNvPr>
          <p:cNvSpPr txBox="1"/>
          <p:nvPr/>
        </p:nvSpPr>
        <p:spPr>
          <a:xfrm>
            <a:off x="3116345" y="3337066"/>
            <a:ext cx="6197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1400" b="0" i="0" u="none" strike="noStrike" noProof="0" dirty="0">
                <a:solidFill>
                  <a:srgbClr val="CBD5E1"/>
                </a:solidFill>
                <a:effectLst/>
                <a:latin typeface="Montserrat" panose="00000500000000000000" pitchFamily="2" charset="0"/>
              </a:rPr>
              <a:t>Gestisce tipi (float), valori di default e help messages.</a:t>
            </a:r>
            <a:endParaRPr lang="it-IT" b="0" noProof="0" dirty="0">
              <a:effectLst/>
            </a:endParaRPr>
          </a:p>
          <a:p>
            <a:pPr>
              <a:buNone/>
            </a:pPr>
            <a:br>
              <a:rPr lang="it-IT" noProof="0" dirty="0"/>
            </a:br>
            <a:endParaRPr lang="it-IT" noProof="0" dirty="0"/>
          </a:p>
        </p:txBody>
      </p:sp>
      <p:sp>
        <p:nvSpPr>
          <p:cNvPr id="13" name="Google Shape;200;p18">
            <a:extLst>
              <a:ext uri="{FF2B5EF4-FFF2-40B4-BE49-F238E27FC236}">
                <a16:creationId xmlns:a16="http://schemas.microsoft.com/office/drawing/2014/main" id="{7622DE87-0C28-D13E-08A4-103F60B6AFDD}"/>
              </a:ext>
            </a:extLst>
          </p:cNvPr>
          <p:cNvSpPr txBox="1"/>
          <p:nvPr/>
        </p:nvSpPr>
        <p:spPr>
          <a:xfrm>
            <a:off x="2991736" y="2565780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14" name="Google Shape;200;p18">
            <a:extLst>
              <a:ext uri="{FF2B5EF4-FFF2-40B4-BE49-F238E27FC236}">
                <a16:creationId xmlns:a16="http://schemas.microsoft.com/office/drawing/2014/main" id="{C7CC0CB5-318B-89FB-403D-4E15BDF8E163}"/>
              </a:ext>
            </a:extLst>
          </p:cNvPr>
          <p:cNvSpPr txBox="1"/>
          <p:nvPr/>
        </p:nvSpPr>
        <p:spPr>
          <a:xfrm>
            <a:off x="2991735" y="3376695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83EFBBA-3401-A560-1EB0-C7606A99923A}"/>
              </a:ext>
            </a:extLst>
          </p:cNvPr>
          <p:cNvSpPr txBox="1"/>
          <p:nvPr/>
        </p:nvSpPr>
        <p:spPr>
          <a:xfrm>
            <a:off x="595442" y="4075730"/>
            <a:ext cx="619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1600" b="1" i="0" u="none" strike="noStrike" noProof="0" dirty="0">
                <a:solidFill>
                  <a:srgbClr val="F1F5F9"/>
                </a:solidFill>
                <a:effectLst/>
                <a:latin typeface="Montserrat" panose="00000500000000000000" pitchFamily="2" charset="0"/>
              </a:rPr>
              <a:t>Creazione Grafici</a:t>
            </a:r>
            <a:endParaRPr lang="it-IT" sz="1600" b="0" noProof="0" dirty="0">
              <a:effectLst/>
            </a:endParaRPr>
          </a:p>
          <a:p>
            <a:pPr>
              <a:buNone/>
            </a:pPr>
            <a:br>
              <a:rPr lang="it-IT" sz="1600" noProof="0" dirty="0"/>
            </a:br>
            <a:endParaRPr lang="it-IT" sz="1600" noProof="0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1EC006D-32D6-8958-30BF-19399989696E}"/>
              </a:ext>
            </a:extLst>
          </p:cNvPr>
          <p:cNvSpPr txBox="1"/>
          <p:nvPr/>
        </p:nvSpPr>
        <p:spPr>
          <a:xfrm>
            <a:off x="595442" y="4678457"/>
            <a:ext cx="619760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it-IT" sz="1400" b="0" i="0" u="none" strike="noStrike" noProof="0" dirty="0">
                <a:solidFill>
                  <a:srgbClr val="CBD5E1"/>
                </a:solidFill>
                <a:effectLst/>
                <a:latin typeface="Montserrat" panose="00000500000000000000" pitchFamily="2" charset="0"/>
              </a:rPr>
              <a:t>Utilizzo di                                  per generare griglie di subplot (2x3) che mostrano simultaneamente traiettoria, velocità e metriche di atterraggio.</a:t>
            </a:r>
            <a:endParaRPr lang="it-IT" b="0" noProof="0" dirty="0">
              <a:effectLst/>
            </a:endParaRPr>
          </a:p>
          <a:p>
            <a:pPr>
              <a:buNone/>
            </a:pPr>
            <a:br>
              <a:rPr lang="it-IT" noProof="0" dirty="0"/>
            </a:br>
            <a:endParaRPr lang="it-IT" noProof="0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80C3E5B7-A562-2D9E-38CA-F2BC4C42A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485" y="4740039"/>
            <a:ext cx="1238250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78585" y="9525"/>
            <a:ext cx="730374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390525" y="390525"/>
            <a:ext cx="4312413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50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K Costante</a:t>
            </a:r>
            <a:endParaRPr lang="it-IT" noProof="0" dirty="0"/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6C8B172B-5883-8665-5541-DC469C036DF4}"/>
              </a:ext>
            </a:extLst>
          </p:cNvPr>
          <p:cNvGrpSpPr/>
          <p:nvPr/>
        </p:nvGrpSpPr>
        <p:grpSpPr>
          <a:xfrm>
            <a:off x="421368" y="2482747"/>
            <a:ext cx="4107060" cy="3381375"/>
            <a:chOff x="421368" y="3208461"/>
            <a:chExt cx="4107060" cy="3381375"/>
          </a:xfrm>
        </p:grpSpPr>
        <p:pic>
          <p:nvPicPr>
            <p:cNvPr id="211" name="Google Shape;211;p19" descr="image.png"/>
            <p:cNvPicPr preferRelativeResize="0"/>
            <p:nvPr/>
          </p:nvPicPr>
          <p:blipFill rotWithShape="1">
            <a:blip r:embed="rId5">
              <a:alphaModFix/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21368" y="3208461"/>
              <a:ext cx="4107060" cy="3381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19"/>
            <p:cNvSpPr txBox="1"/>
            <p:nvPr/>
          </p:nvSpPr>
          <p:spPr>
            <a:xfrm>
              <a:off x="762000" y="3381375"/>
              <a:ext cx="3535560" cy="257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350" b="1" i="0" u="none" strike="noStrike" cap="none" noProof="0" dirty="0">
                  <a:solidFill>
                    <a:srgbClr val="E2E8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 Traiettoria y(x)</a:t>
              </a:r>
              <a:endParaRPr lang="it-IT" noProof="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8" name="Google Shape;218;p19"/>
                <p:cNvSpPr txBox="1"/>
                <p:nvPr/>
              </p:nvSpPr>
              <p:spPr>
                <a:xfrm>
                  <a:off x="762000" y="3676650"/>
                  <a:ext cx="3535560" cy="5193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49955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it-IT" sz="1125" b="0" i="0" u="none" strike="noStrike" cap="none" noProof="0" dirty="0">
                      <a:solidFill>
                        <a:srgbClr val="94A3B8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Curve perfettamente sovrapposte. Senza variazione di k, la dinamica è identica per ogni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1125" b="0" i="1" u="none" strike="noStrike" cap="none" noProof="0" smtClean="0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it-IT" sz="1125" b="0" i="1" u="none" strike="noStrike" cap="none" noProof="0" smtClean="0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h</m:t>
                          </m:r>
                        </m:e>
                        <m:sub>
                          <m:r>
                            <a:rPr lang="it-IT" sz="1125" b="0" i="1" u="none" strike="noStrike" cap="none" noProof="0" smtClean="0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𝑡</m:t>
                          </m:r>
                        </m:sub>
                      </m:sSub>
                      <m:r>
                        <a:rPr lang="it-IT" sz="1125" b="0" i="1" u="none" strike="noStrike" cap="none" noProof="0" smtClean="0">
                          <a:solidFill>
                            <a:srgbClr val="94A3B8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.</m:t>
                      </m:r>
                    </m:oMath>
                  </a14:m>
                  <a:endParaRPr lang="it-IT" noProof="0" dirty="0"/>
                </a:p>
              </p:txBody>
            </p:sp>
          </mc:Choice>
          <mc:Fallback>
            <p:sp>
              <p:nvSpPr>
                <p:cNvPr id="218" name="Google Shape;218;p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" y="3676650"/>
                  <a:ext cx="3535560" cy="519373"/>
                </a:xfrm>
                <a:prstGeom prst="rect">
                  <a:avLst/>
                </a:prstGeom>
                <a:blipFill>
                  <a:blip r:embed="rId6"/>
                  <a:stretch>
                    <a:fillRect l="-2414" b="-1176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9" name="Google Shape;219;p19"/>
                <p:cNvSpPr txBox="1"/>
                <p:nvPr/>
              </p:nvSpPr>
              <p:spPr>
                <a:xfrm>
                  <a:off x="778951" y="4234123"/>
                  <a:ext cx="3535560" cy="340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it-IT" sz="1350" b="1" i="0" u="none" strike="noStrike" cap="none" noProof="0" dirty="0">
                      <a:solidFill>
                        <a:srgbClr val="E2E8F0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2. Velocità verticale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1350" b="1" i="1" u="none" strike="noStrike" cap="none" noProof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it-IT" sz="1350" b="1" i="1" u="none" strike="noStrike" cap="none" noProof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𝒗</m:t>
                          </m:r>
                        </m:e>
                        <m:sub>
                          <m:r>
                            <a:rPr lang="it-IT" sz="1350" b="1" i="1" u="none" strike="noStrike" cap="none" noProof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it-IT" sz="1350" b="1" i="1" u="none" strike="noStrike" cap="none" noProof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dPr>
                        <m:e>
                          <m:r>
                            <a:rPr lang="it-IT" sz="1350" b="1" i="1" u="none" strike="noStrike" cap="none" noProof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𝒕</m:t>
                          </m:r>
                        </m:e>
                      </m:d>
                    </m:oMath>
                  </a14:m>
                  <a:endParaRPr lang="it-IT" noProof="0" dirty="0"/>
                </a:p>
              </p:txBody>
            </p:sp>
          </mc:Choice>
          <mc:Fallback>
            <p:sp>
              <p:nvSpPr>
                <p:cNvPr id="219" name="Google Shape;219;p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951" y="4234123"/>
                  <a:ext cx="3535560" cy="340221"/>
                </a:xfrm>
                <a:prstGeom prst="rect">
                  <a:avLst/>
                </a:prstGeom>
                <a:blipFill>
                  <a:blip r:embed="rId7"/>
                  <a:stretch>
                    <a:fillRect l="-3103" b="-1818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0" name="Google Shape;220;p19"/>
            <p:cNvSpPr txBox="1"/>
            <p:nvPr/>
          </p:nvSpPr>
          <p:spPr>
            <a:xfrm>
              <a:off x="761584" y="4509620"/>
              <a:ext cx="3535560" cy="7790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125" b="0" i="0" u="none" strike="noStrike" cap="none" noProof="0" dirty="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Singola curva di accelerazione fino alla velocità limite (~52 m/s). Nessuna frenata improvvisa  visibile.</a:t>
              </a:r>
              <a:endParaRPr lang="it-IT" noProof="0" dirty="0"/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762000" y="5272087"/>
              <a:ext cx="3535560" cy="31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350" b="1" i="0" u="none" strike="noStrike" cap="none" noProof="0" dirty="0">
                  <a:solidFill>
                    <a:srgbClr val="E2E8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 Metriche (Max, Dist, V atterraggio)</a:t>
              </a:r>
              <a:endParaRPr lang="it-IT" noProof="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2" name="Google Shape;222;p19"/>
                <p:cNvSpPr txBox="1"/>
                <p:nvPr/>
              </p:nvSpPr>
              <p:spPr>
                <a:xfrm>
                  <a:off x="762000" y="5567362"/>
                  <a:ext cx="3535560" cy="7990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49955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it-IT" sz="1125" b="0" i="0" u="none" strike="noStrike" cap="none" noProof="0" dirty="0">
                      <a:solidFill>
                        <a:srgbClr val="94A3B8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Linee piatte orizzontali. Conferma che il parametro h_t è totalmente ininfluente se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1125" b="0" i="1" u="none" strike="noStrike" cap="none" noProof="0" smtClean="0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it-IT" sz="1125" b="0" i="1" u="none" strike="noStrike" cap="none" noProof="0" smtClean="0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𝑘</m:t>
                          </m:r>
                        </m:e>
                        <m:sub>
                          <m:r>
                            <a:rPr lang="it-IT" sz="1125" b="0" i="1" u="none" strike="noStrike" cap="none" noProof="0" smtClean="0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𝑎𝑝𝑒𝑟𝑡𝑜</m:t>
                          </m:r>
                        </m:sub>
                      </m:sSub>
                      <m:r>
                        <a:rPr lang="it-IT" sz="1125" b="0" i="1" u="none" strike="noStrike" cap="none" noProof="0" smtClean="0">
                          <a:solidFill>
                            <a:srgbClr val="94A3B8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=</m:t>
                      </m:r>
                      <m:sSub>
                        <m:sSubPr>
                          <m:ctrlPr>
                            <a:rPr lang="it-IT" sz="1125" b="0" i="1" u="none" strike="noStrike" cap="none" noProof="0" smtClean="0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it-IT" sz="1125" b="0" i="1" u="none" strike="noStrike" cap="none" noProof="0" smtClean="0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𝑘</m:t>
                          </m:r>
                        </m:e>
                        <m:sub>
                          <m:r>
                            <a:rPr lang="it-IT" sz="1125" b="0" i="1" u="none" strike="noStrike" cap="none" noProof="0" smtClean="0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𝑐h𝑖𝑢𝑠𝑜</m:t>
                          </m:r>
                        </m:sub>
                      </m:sSub>
                      <m:r>
                        <a:rPr lang="it-IT" sz="1125" b="0" i="1" u="none" strike="noStrike" cap="none" noProof="0" smtClean="0">
                          <a:solidFill>
                            <a:srgbClr val="94A3B8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.</m:t>
                      </m:r>
                    </m:oMath>
                  </a14:m>
                  <a:endParaRPr lang="it-IT" noProof="0" dirty="0"/>
                </a:p>
              </p:txBody>
            </p:sp>
          </mc:Choice>
          <mc:Fallback>
            <p:sp>
              <p:nvSpPr>
                <p:cNvPr id="222" name="Google Shape;222;p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" y="5567362"/>
                  <a:ext cx="3535560" cy="799065"/>
                </a:xfrm>
                <a:prstGeom prst="rect">
                  <a:avLst/>
                </a:prstGeom>
                <a:blipFill>
                  <a:blip r:embed="rId8"/>
                  <a:stretch>
                    <a:fillRect l="-2414" b="-152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Immagine 2" descr="Immagine che contiene testo, diagramma, linea, Parallelo&#10;&#10;Il contenuto generato dall'IA potrebbe non essere corretto.">
            <a:extLst>
              <a:ext uri="{FF2B5EF4-FFF2-40B4-BE49-F238E27FC236}">
                <a16:creationId xmlns:a16="http://schemas.microsoft.com/office/drawing/2014/main" id="{B60418CA-DB4F-2754-FA52-D8FE8A43861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" t="5743" r="66450" b="47569"/>
          <a:stretch>
            <a:fillRect/>
          </a:stretch>
        </p:blipFill>
        <p:spPr>
          <a:xfrm>
            <a:off x="5104838" y="9525"/>
            <a:ext cx="3174691" cy="2245285"/>
          </a:xfrm>
          <a:prstGeom prst="rect">
            <a:avLst/>
          </a:prstGeom>
        </p:spPr>
      </p:pic>
      <p:pic>
        <p:nvPicPr>
          <p:cNvPr id="5" name="Immagine 4" descr="Immagine che contiene testo, diagramma, linea, Parallelo&#10;&#10;Il contenuto generato dall'IA potrebbe non essere corretto.">
            <a:extLst>
              <a:ext uri="{FF2B5EF4-FFF2-40B4-BE49-F238E27FC236}">
                <a16:creationId xmlns:a16="http://schemas.microsoft.com/office/drawing/2014/main" id="{0789AABF-A5EA-27BE-29D9-7E45CD8A493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3438" t="6804" r="33610" b="46702"/>
          <a:stretch>
            <a:fillRect/>
          </a:stretch>
        </p:blipFill>
        <p:spPr>
          <a:xfrm>
            <a:off x="8753590" y="9525"/>
            <a:ext cx="3182596" cy="2245285"/>
          </a:xfrm>
          <a:prstGeom prst="rect">
            <a:avLst/>
          </a:prstGeom>
        </p:spPr>
      </p:pic>
      <p:pic>
        <p:nvPicPr>
          <p:cNvPr id="7" name="Immagine 6" descr="Immagine che contiene testo, diagramma, linea, Parallelo&#10;&#10;Il contenuto generato dall'IA potrebbe non essere corretto.">
            <a:extLst>
              <a:ext uri="{FF2B5EF4-FFF2-40B4-BE49-F238E27FC236}">
                <a16:creationId xmlns:a16="http://schemas.microsoft.com/office/drawing/2014/main" id="{C96BDC7E-0610-72B0-BF01-8C0F5C3B7C2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7196" t="5225" b="46180"/>
          <a:stretch>
            <a:fillRect/>
          </a:stretch>
        </p:blipFill>
        <p:spPr>
          <a:xfrm>
            <a:off x="5228743" y="2254810"/>
            <a:ext cx="3174690" cy="2351408"/>
          </a:xfrm>
          <a:prstGeom prst="rect">
            <a:avLst/>
          </a:prstGeom>
        </p:spPr>
      </p:pic>
      <p:pic>
        <p:nvPicPr>
          <p:cNvPr id="9" name="Immagine 8" descr="Immagine che contiene testo, diagramma, linea, Parallelo&#10;&#10;Il contenuto generato dall'IA potrebbe non essere corretto.">
            <a:extLst>
              <a:ext uri="{FF2B5EF4-FFF2-40B4-BE49-F238E27FC236}">
                <a16:creationId xmlns:a16="http://schemas.microsoft.com/office/drawing/2014/main" id="{7092C5BC-9D24-42B9-4200-DD31523F931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389" t="53341" r="66390" b="2183"/>
          <a:stretch>
            <a:fillRect/>
          </a:stretch>
        </p:blipFill>
        <p:spPr>
          <a:xfrm>
            <a:off x="8753590" y="2264335"/>
            <a:ext cx="3253205" cy="2245285"/>
          </a:xfrm>
          <a:prstGeom prst="rect">
            <a:avLst/>
          </a:prstGeom>
        </p:spPr>
      </p:pic>
      <p:pic>
        <p:nvPicPr>
          <p:cNvPr id="11" name="Immagine 10" descr="Immagine che contiene testo, diagramma, linea, Parallelo&#10;&#10;Il contenuto generato dall'IA potrebbe non essere corretto.">
            <a:extLst>
              <a:ext uri="{FF2B5EF4-FFF2-40B4-BE49-F238E27FC236}">
                <a16:creationId xmlns:a16="http://schemas.microsoft.com/office/drawing/2014/main" id="{CC91FCE5-26CC-BB31-C81C-9ACDBC64963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3779" t="52300" r="30732" b="2422"/>
          <a:stretch>
            <a:fillRect/>
          </a:stretch>
        </p:blipFill>
        <p:spPr>
          <a:xfrm>
            <a:off x="5285478" y="4574954"/>
            <a:ext cx="3524039" cy="2131518"/>
          </a:xfrm>
          <a:prstGeom prst="rect">
            <a:avLst/>
          </a:prstGeom>
        </p:spPr>
      </p:pic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7568CCB5-6EF9-C20C-E94C-B3B7F3FAF942}"/>
              </a:ext>
            </a:extLst>
          </p:cNvPr>
          <p:cNvCxnSpPr>
            <a:cxnSpLocks/>
          </p:cNvCxnSpPr>
          <p:nvPr/>
        </p:nvCxnSpPr>
        <p:spPr>
          <a:xfrm>
            <a:off x="390525" y="1120918"/>
            <a:ext cx="410706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Google Shape;218;p19">
            <a:extLst>
              <a:ext uri="{FF2B5EF4-FFF2-40B4-BE49-F238E27FC236}">
                <a16:creationId xmlns:a16="http://schemas.microsoft.com/office/drawing/2014/main" id="{08E347E3-C880-600B-BE9F-63385E0F8B52}"/>
              </a:ext>
            </a:extLst>
          </p:cNvPr>
          <p:cNvSpPr txBox="1"/>
          <p:nvPr/>
        </p:nvSpPr>
        <p:spPr>
          <a:xfrm>
            <a:off x="609589" y="1395366"/>
            <a:ext cx="353556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 dirty="0">
                <a:solidFill>
                  <a:srgbClr val="94A3B8"/>
                </a:solidFill>
                <a:ea typeface="Montserrat"/>
                <a:cs typeface="Montserrat"/>
                <a:sym typeface="Montserrat"/>
              </a:rPr>
              <a:t>Mostriamo la correttezza del programma al variate di ht nell’ intervallo [100, 1100] con passo di 200</a:t>
            </a:r>
            <a:endParaRPr lang="it-IT" sz="1800" noProof="0" dirty="0"/>
          </a:p>
        </p:txBody>
      </p:sp>
      <p:pic>
        <p:nvPicPr>
          <p:cNvPr id="20" name="Immagine 19" descr="Immagine che contiene testo, diagramma, linea, Parallelo&#10;&#10;Il contenuto generato dall'IA potrebbe non essere corretto.">
            <a:extLst>
              <a:ext uri="{FF2B5EF4-FFF2-40B4-BE49-F238E27FC236}">
                <a16:creationId xmlns:a16="http://schemas.microsoft.com/office/drawing/2014/main" id="{5A63F907-56E2-F129-168B-800B218D112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6738" t="59075" r="6019" b="12351"/>
          <a:stretch>
            <a:fillRect/>
          </a:stretch>
        </p:blipFill>
        <p:spPr>
          <a:xfrm>
            <a:off x="9549868" y="4702185"/>
            <a:ext cx="1892106" cy="15676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385763" y="1093787"/>
            <a:ext cx="4107060" cy="576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32352" y="6658"/>
            <a:ext cx="730374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Google Shape;230;p20"/>
              <p:cNvSpPr txBox="1"/>
              <p:nvPr/>
            </p:nvSpPr>
            <p:spPr>
              <a:xfrm>
                <a:off x="373573" y="77741"/>
                <a:ext cx="4312413" cy="7271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3150" b="0" i="0" u="none" strike="noStrike" cap="none" noProof="0" dirty="0">
                    <a:solidFill>
                      <a:srgbClr val="F1F5F9"/>
                    </a:solidFill>
                    <a:latin typeface="Montserrat ExtraBold"/>
                    <a:ea typeface="Montserrat ExtraBold"/>
                    <a:cs typeface="Montserrat ExtraBold"/>
                    <a:sym typeface="Montserrat ExtraBold"/>
                  </a:rPr>
                  <a:t>Quota Apertura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3150" b="0" i="1" u="none" strike="noStrike" cap="none" noProof="0" smtClean="0">
                            <a:solidFill>
                              <a:srgbClr val="F1F5F9"/>
                            </a:solidFill>
                            <a:latin typeface="Cambria Math" panose="02040503050406030204" pitchFamily="18" charset="0"/>
                            <a:ea typeface="Montserrat ExtraBold"/>
                            <a:cs typeface="Montserrat ExtraBold"/>
                            <a:sym typeface="Montserrat ExtraBold"/>
                          </a:rPr>
                        </m:ctrlPr>
                      </m:sSubPr>
                      <m:e>
                        <m:r>
                          <a:rPr lang="it-IT" sz="3150" b="0" i="1" u="none" strike="noStrike" cap="none" noProof="0" smtClean="0">
                            <a:solidFill>
                              <a:srgbClr val="F1F5F9"/>
                            </a:solidFill>
                            <a:latin typeface="Cambria Math" panose="02040503050406030204" pitchFamily="18" charset="0"/>
                            <a:ea typeface="Montserrat ExtraBold"/>
                            <a:cs typeface="Montserrat ExtraBold"/>
                            <a:sym typeface="Montserrat ExtraBold"/>
                          </a:rPr>
                          <m:t>h</m:t>
                        </m:r>
                      </m:e>
                      <m:sub>
                        <m:r>
                          <a:rPr lang="it-IT" sz="3150" b="0" i="1" u="none" strike="noStrike" cap="none" noProof="0" smtClean="0">
                            <a:solidFill>
                              <a:srgbClr val="F1F5F9"/>
                            </a:solidFill>
                            <a:latin typeface="Cambria Math" panose="02040503050406030204" pitchFamily="18" charset="0"/>
                            <a:ea typeface="Montserrat ExtraBold"/>
                            <a:cs typeface="Montserrat ExtraBold"/>
                            <a:sym typeface="Montserrat ExtraBold"/>
                          </a:rPr>
                          <m:t>𝑡</m:t>
                        </m:r>
                      </m:sub>
                    </m:sSub>
                  </m:oMath>
                </a14:m>
                <a:endParaRPr lang="it-IT" noProof="0" dirty="0"/>
              </a:p>
            </p:txBody>
          </p:sp>
        </mc:Choice>
        <mc:Fallback>
          <p:sp>
            <p:nvSpPr>
              <p:cNvPr id="230" name="Google Shape;230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73" y="77741"/>
                <a:ext cx="4312413" cy="727122"/>
              </a:xfrm>
              <a:prstGeom prst="rect">
                <a:avLst/>
              </a:prstGeom>
              <a:blipFill>
                <a:blip r:embed="rId6"/>
                <a:stretch>
                  <a:fillRect l="-5650" b="-226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3" name="Google Shape;233;p20"/>
          <p:cNvSpPr txBox="1"/>
          <p:nvPr/>
        </p:nvSpPr>
        <p:spPr>
          <a:xfrm>
            <a:off x="762000" y="1208314"/>
            <a:ext cx="353556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1. Traiettoria y(x)</a:t>
            </a:r>
            <a:endParaRPr lang="it-IT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5" name="Google Shape;235;p20"/>
              <p:cNvSpPr txBox="1"/>
              <p:nvPr/>
            </p:nvSpPr>
            <p:spPr>
              <a:xfrm>
                <a:off x="761999" y="2350011"/>
                <a:ext cx="3535560" cy="340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350" b="1" i="0" u="none" strike="noStrike" cap="none" noProof="0" dirty="0">
                    <a:solidFill>
                      <a:srgbClr val="E2E8F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2. Velocità verticale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350" b="1" i="1" u="none" strike="noStrike" cap="none" noProof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sz="1350" b="1" i="1" u="none" strike="noStrike" cap="none" noProof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𝒗</m:t>
                        </m:r>
                      </m:e>
                      <m:sub>
                        <m:r>
                          <a:rPr lang="it-IT" sz="1350" b="1" i="1" u="none" strike="noStrike" cap="none" noProof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𝒚</m:t>
                        </m:r>
                      </m:sub>
                    </m:sSub>
                    <m:d>
                      <m:dPr>
                        <m:ctrlPr>
                          <a:rPr lang="it-IT" sz="1350" b="1" i="1" u="none" strike="noStrike" cap="none" noProof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dPr>
                      <m:e>
                        <m:r>
                          <a:rPr lang="it-IT" sz="1350" b="1" i="1" u="none" strike="noStrike" cap="none" noProof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𝒕</m:t>
                        </m:r>
                      </m:e>
                    </m:d>
                  </m:oMath>
                </a14:m>
                <a:endParaRPr lang="it-IT" noProof="0" dirty="0"/>
              </a:p>
            </p:txBody>
          </p:sp>
        </mc:Choice>
        <mc:Fallback>
          <p:sp>
            <p:nvSpPr>
              <p:cNvPr id="235" name="Google Shape;235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9" y="2350011"/>
                <a:ext cx="3535560" cy="340221"/>
              </a:xfrm>
              <a:prstGeom prst="rect">
                <a:avLst/>
              </a:prstGeom>
              <a:blipFill>
                <a:blip r:embed="rId7"/>
                <a:stretch>
                  <a:fillRect l="-2931" b="-181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Google Shape;237;p20"/>
          <p:cNvSpPr txBox="1"/>
          <p:nvPr/>
        </p:nvSpPr>
        <p:spPr>
          <a:xfrm>
            <a:off x="761999" y="3467432"/>
            <a:ext cx="353556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3. Velocità Max</a:t>
            </a:r>
            <a:endParaRPr lang="it-IT" noProof="0" dirty="0"/>
          </a:p>
        </p:txBody>
      </p:sp>
      <p:sp>
        <p:nvSpPr>
          <p:cNvPr id="239" name="Google Shape;239;p20"/>
          <p:cNvSpPr txBox="1"/>
          <p:nvPr/>
        </p:nvSpPr>
        <p:spPr>
          <a:xfrm>
            <a:off x="725292" y="4463849"/>
            <a:ext cx="353556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4. Distanza Atterraggio</a:t>
            </a:r>
            <a:endParaRPr lang="it-IT" noProof="0" dirty="0"/>
          </a:p>
        </p:txBody>
      </p:sp>
      <p:sp>
        <p:nvSpPr>
          <p:cNvPr id="241" name="Google Shape;241;p20"/>
          <p:cNvSpPr txBox="1"/>
          <p:nvPr/>
        </p:nvSpPr>
        <p:spPr>
          <a:xfrm>
            <a:off x="725292" y="5609757"/>
            <a:ext cx="353556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5. Velocità Atterraggio</a:t>
            </a:r>
            <a:endParaRPr lang="it-IT" noProof="0" dirty="0"/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108B047D-F6E5-12AA-8A7F-6578AB3FE6E7}"/>
              </a:ext>
            </a:extLst>
          </p:cNvPr>
          <p:cNvCxnSpPr>
            <a:cxnSpLocks/>
          </p:cNvCxnSpPr>
          <p:nvPr/>
        </p:nvCxnSpPr>
        <p:spPr>
          <a:xfrm>
            <a:off x="390525" y="808135"/>
            <a:ext cx="38390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7" name="Immagine 26" descr="Immagine che contiene testo, diagramma, linea, Piano&#10;&#10;Il contenuto generato dall'IA potrebbe non essere corretto.">
            <a:extLst>
              <a:ext uri="{FF2B5EF4-FFF2-40B4-BE49-F238E27FC236}">
                <a16:creationId xmlns:a16="http://schemas.microsoft.com/office/drawing/2014/main" id="{4F59D34F-DD6B-1985-D73B-A14AB93D724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7649" t="58607" r="5556" b="12275"/>
          <a:stretch>
            <a:fillRect/>
          </a:stretch>
        </p:blipFill>
        <p:spPr>
          <a:xfrm>
            <a:off x="8492734" y="4766596"/>
            <a:ext cx="1842889" cy="15975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1">
                <a:extLst>
                  <a:ext uri="{FF2B5EF4-FFF2-40B4-BE49-F238E27FC236}">
                    <a16:creationId xmlns:a16="http://schemas.microsoft.com/office/drawing/2014/main" id="{3969ED23-3F5C-3257-08CF-69DA0CE82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456" y="1515876"/>
                <a:ext cx="4017132" cy="888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it-IT" sz="1125" noProof="0" dirty="0">
                    <a:solidFill>
                      <a:srgbClr val="94A3B8"/>
                    </a:solidFill>
                    <a:latin typeface="Montserrat"/>
                  </a:rPr>
                  <a:t>L'apertura anticipata riduce la gittata poiché il coefficiente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25" i="1" noProof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25" i="1" noProof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t-IT" sz="1125" i="1" noProof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it-IT" sz="1125" noProof="0" dirty="0">
                    <a:solidFill>
                      <a:srgbClr val="94A3B8"/>
                    </a:solidFill>
                    <a:latin typeface="Montserrat"/>
                  </a:rPr>
                  <a:t> dissipa l'inerzia orizzontale più rapidamente, rendendo la parte finale della caduta quasi perfettamente verticale</a:t>
                </a:r>
                <a:r>
                  <a:rPr kumimoji="0" lang="it-IT" sz="1800" b="0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.</a:t>
                </a:r>
                <a:endParaRPr kumimoji="0" lang="it-IT" sz="18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8" name="Rectangle 1">
                <a:extLst>
                  <a:ext uri="{FF2B5EF4-FFF2-40B4-BE49-F238E27FC236}">
                    <a16:creationId xmlns:a16="http://schemas.microsoft.com/office/drawing/2014/main" id="{3969ED23-3F5C-3257-08CF-69DA0CE82B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456" y="1515876"/>
                <a:ext cx="4017132" cy="888705"/>
              </a:xfrm>
              <a:prstGeom prst="rect">
                <a:avLst/>
              </a:prstGeom>
              <a:blipFill>
                <a:blip r:embed="rId9"/>
                <a:stretch>
                  <a:fillRect b="-110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">
                <a:extLst>
                  <a:ext uri="{FF2B5EF4-FFF2-40B4-BE49-F238E27FC236}">
                    <a16:creationId xmlns:a16="http://schemas.microsoft.com/office/drawing/2014/main" id="{1EA3815D-0CC1-BB30-4C69-0B21BDC58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456" y="2682602"/>
                <a:ext cx="3847367" cy="7848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it-IT" sz="1125" noProof="0" dirty="0">
                    <a:solidFill>
                      <a:srgbClr val="94A3B8"/>
                    </a:solidFill>
                    <a:latin typeface="Montserrat"/>
                  </a:rPr>
                  <a:t>Il grafico evidenzia il transitorio tra le due velocità terminali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1125" i="1" noProof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125" i="1" noProof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≈92</m:t>
                        </m:r>
                        <m: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it-IT" sz="1125" i="1" noProof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12.26</m:t>
                        </m:r>
                        <m:r>
                          <m:rPr>
                            <m:nor/>
                          </m:rPr>
                          <a:rPr lang="it-IT" sz="1125" i="0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t-IT" sz="1125" i="0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lit/>
                            <m:nor/>
                          </m:rPr>
                          <a:rPr lang="it-IT" sz="1125" i="0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it-IT" sz="1125" i="0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it-IT" sz="1125" i="1" noProof="0" smtClean="0">
                        <a:solidFill>
                          <a:srgbClr val="94A3B8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it-IT" sz="1125" noProof="0" dirty="0">
                    <a:solidFill>
                      <a:srgbClr val="94A3B8"/>
                    </a:solidFill>
                    <a:latin typeface="Montserrat"/>
                  </a:rPr>
                  <a:t>identificando l'istante esatto in cui il cambio di regime dinamico interrompe l'accelerazione.</a:t>
                </a:r>
              </a:p>
            </p:txBody>
          </p:sp>
        </mc:Choice>
        <mc:Fallback>
          <p:sp>
            <p:nvSpPr>
              <p:cNvPr id="29" name="Rectangle 2">
                <a:extLst>
                  <a:ext uri="{FF2B5EF4-FFF2-40B4-BE49-F238E27FC236}">
                    <a16:creationId xmlns:a16="http://schemas.microsoft.com/office/drawing/2014/main" id="{1EA3815D-0CC1-BB30-4C69-0B21BDC58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456" y="2682602"/>
                <a:ext cx="3847367" cy="784830"/>
              </a:xfrm>
              <a:prstGeom prst="rect">
                <a:avLst/>
              </a:prstGeom>
              <a:blipFill>
                <a:blip r:embed="rId10"/>
                <a:stretch>
                  <a:fillRect b="-542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3">
                <a:extLst>
                  <a:ext uri="{FF2B5EF4-FFF2-40B4-BE49-F238E27FC236}">
                    <a16:creationId xmlns:a16="http://schemas.microsoft.com/office/drawing/2014/main" id="{75A75650-C829-E591-D924-B8E4100CEF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456" y="3753083"/>
                <a:ext cx="3839030" cy="7848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it-IT" sz="1125" noProof="0" dirty="0">
                    <a:solidFill>
                      <a:srgbClr val="94A3B8"/>
                    </a:solidFill>
                    <a:latin typeface="Montserrat"/>
                  </a:rPr>
                  <a:t>L'incremento della quota di apertura interrompe precocemente la fase di caduta libera, impedendo al sistema di accumulare l'energia cinetica necessaria per raggiungere l'asintoto di </a:t>
                </a:r>
                <a14:m>
                  <m:oMath xmlns:m="http://schemas.openxmlformats.org/officeDocument/2006/math">
                    <m:r>
                      <a:rPr lang="it-IT" sz="1125" i="1" noProof="0" smtClean="0">
                        <a:solidFill>
                          <a:srgbClr val="94A3B8"/>
                        </a:solidFill>
                        <a:latin typeface="Cambria Math" panose="02040503050406030204" pitchFamily="18" charset="0"/>
                      </a:rPr>
                      <m:t>92</m:t>
                    </m:r>
                    <m:r>
                      <m:rPr>
                        <m:nor/>
                      </m:rPr>
                      <a:rPr lang="it-IT" sz="1125" i="0" noProof="0">
                        <a:solidFill>
                          <a:srgbClr val="94A3B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sz="1125" i="0" noProof="0">
                        <a:solidFill>
                          <a:srgbClr val="94A3B8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lit/>
                        <m:nor/>
                      </m:rPr>
                      <a:rPr lang="it-IT" sz="1125" i="0" noProof="0">
                        <a:solidFill>
                          <a:srgbClr val="94A3B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it-IT" sz="1125" i="0" noProof="0">
                        <a:solidFill>
                          <a:srgbClr val="94A3B8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it-IT" sz="1125" noProof="0" dirty="0">
                  <a:solidFill>
                    <a:srgbClr val="94A3B8"/>
                  </a:solidFill>
                  <a:latin typeface="Montserrat"/>
                </a:endParaRPr>
              </a:p>
            </p:txBody>
          </p:sp>
        </mc:Choice>
        <mc:Fallback>
          <p:sp>
            <p:nvSpPr>
              <p:cNvPr id="30" name="Rectangle 3">
                <a:extLst>
                  <a:ext uri="{FF2B5EF4-FFF2-40B4-BE49-F238E27FC236}">
                    <a16:creationId xmlns:a16="http://schemas.microsoft.com/office/drawing/2014/main" id="{75A75650-C829-E591-D924-B8E4100CE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456" y="3753083"/>
                <a:ext cx="3839030" cy="784830"/>
              </a:xfrm>
              <a:prstGeom prst="rect">
                <a:avLst/>
              </a:prstGeom>
              <a:blipFill>
                <a:blip r:embed="rId11"/>
                <a:stretch>
                  <a:fillRect b="-54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56A14AA-82CC-6EE6-D40A-0C81D1532867}"/>
              </a:ext>
            </a:extLst>
          </p:cNvPr>
          <p:cNvSpPr txBox="1"/>
          <p:nvPr/>
        </p:nvSpPr>
        <p:spPr>
          <a:xfrm>
            <a:off x="699467" y="4766596"/>
            <a:ext cx="3821310" cy="95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25" noProof="0" dirty="0">
                <a:solidFill>
                  <a:srgbClr val="94A3B8"/>
                </a:solidFill>
                <a:latin typeface="Montserrat"/>
              </a:rPr>
              <a:t>decrescente conferma che una maggiore permanenza nel regime ad alta resistenza aumenta lo smorzamento medio della componente orizzontale, riducendo lo spostamento totale dal punto di lancio.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7BD5F716-22D6-77DD-5832-766767DE1BB6}"/>
              </a:ext>
            </a:extLst>
          </p:cNvPr>
          <p:cNvSpPr txBox="1"/>
          <p:nvPr/>
        </p:nvSpPr>
        <p:spPr>
          <a:xfrm>
            <a:off x="761999" y="5919325"/>
            <a:ext cx="337458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25" noProof="0" dirty="0">
                <a:solidFill>
                  <a:srgbClr val="94A3B8"/>
                </a:solidFill>
                <a:latin typeface="Montserrat"/>
              </a:rPr>
              <a:t>Si identifica una quota critica di sicurezza a 220 m: al di sotto di questa soglia, il suolo interrompe il transitorio di frenata prima del raggiungimento della velocità di regime.</a:t>
            </a:r>
          </a:p>
        </p:txBody>
      </p:sp>
      <p:pic>
        <p:nvPicPr>
          <p:cNvPr id="36" name="Immagine 35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3B2D282E-A9AC-69EA-54A4-25DFD494EB9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19" t="7315" r="66390" b="46868"/>
          <a:stretch>
            <a:fillRect/>
          </a:stretch>
        </p:blipFill>
        <p:spPr>
          <a:xfrm>
            <a:off x="4966250" y="6659"/>
            <a:ext cx="3377641" cy="2359686"/>
          </a:xfrm>
          <a:prstGeom prst="rect">
            <a:avLst/>
          </a:prstGeom>
        </p:spPr>
      </p:pic>
      <p:pic>
        <p:nvPicPr>
          <p:cNvPr id="38" name="Immagine 37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ABF77D31-F88F-2A54-7004-2CCF4027884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53133" r="66390" b="2229"/>
          <a:stretch>
            <a:fillRect/>
          </a:stretch>
        </p:blipFill>
        <p:spPr>
          <a:xfrm>
            <a:off x="8592118" y="2350011"/>
            <a:ext cx="3423282" cy="2273270"/>
          </a:xfrm>
          <a:prstGeom prst="rect">
            <a:avLst/>
          </a:prstGeom>
        </p:spPr>
      </p:pic>
      <p:pic>
        <p:nvPicPr>
          <p:cNvPr id="40" name="Immagine 39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644BFBA5-9E2B-374C-9CE9-80DBBA49F17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5544" t="8159" r="32991" b="46868"/>
          <a:stretch>
            <a:fillRect/>
          </a:stretch>
        </p:blipFill>
        <p:spPr>
          <a:xfrm>
            <a:off x="8683420" y="-6658"/>
            <a:ext cx="3180789" cy="2273082"/>
          </a:xfrm>
          <a:prstGeom prst="rect">
            <a:avLst/>
          </a:prstGeom>
        </p:spPr>
      </p:pic>
      <p:pic>
        <p:nvPicPr>
          <p:cNvPr id="42" name="Immagine 41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D9FB2303-7284-1F21-2937-7CB1A0898A7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7010" t="7437" b="46868"/>
          <a:stretch>
            <a:fillRect/>
          </a:stretch>
        </p:blipFill>
        <p:spPr>
          <a:xfrm>
            <a:off x="5233649" y="2427759"/>
            <a:ext cx="3046894" cy="2110154"/>
          </a:xfrm>
          <a:prstGeom prst="rect">
            <a:avLst/>
          </a:prstGeom>
        </p:spPr>
      </p:pic>
      <p:pic>
        <p:nvPicPr>
          <p:cNvPr id="44" name="Immagine 43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3FEA3C1D-5A2D-48FC-276F-7630DED3330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5717" t="53253" r="32818" b="2230"/>
          <a:stretch>
            <a:fillRect/>
          </a:stretch>
        </p:blipFill>
        <p:spPr>
          <a:xfrm>
            <a:off x="5380015" y="4463849"/>
            <a:ext cx="3046894" cy="2155338"/>
          </a:xfrm>
          <a:prstGeom prst="rect">
            <a:avLst/>
          </a:prstGeom>
        </p:spPr>
      </p:pic>
      <p:sp>
        <p:nvSpPr>
          <p:cNvPr id="45" name="Rectangle 1">
            <a:extLst>
              <a:ext uri="{FF2B5EF4-FFF2-40B4-BE49-F238E27FC236}">
                <a16:creationId xmlns:a16="http://schemas.microsoft.com/office/drawing/2014/main" id="{12C9C49A-1B53-80DB-52B8-3BC5B4B24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448" y="5194258"/>
            <a:ext cx="166044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1200" noProof="0" dirty="0">
                <a:solidFill>
                  <a:srgbClr val="436C9E"/>
                </a:solidFill>
                <a:latin typeface="Montserrat"/>
              </a:rPr>
              <a:t>ht che varia nell’intervallo [20, 720] con passo di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355599" y="1142432"/>
            <a:ext cx="410706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4893667" y="13348"/>
            <a:ext cx="7313415" cy="684465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390525" y="-33337"/>
            <a:ext cx="4312413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50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Analisi Massa m</a:t>
            </a:r>
            <a:endParaRPr lang="it-IT" noProof="0" dirty="0"/>
          </a:p>
        </p:txBody>
      </p:sp>
      <p:sp>
        <p:nvSpPr>
          <p:cNvPr id="253" name="Google Shape;253;p21"/>
          <p:cNvSpPr txBox="1"/>
          <p:nvPr/>
        </p:nvSpPr>
        <p:spPr>
          <a:xfrm>
            <a:off x="729328" y="1190801"/>
            <a:ext cx="353556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1. Traiettoria y(x)</a:t>
            </a:r>
            <a:endParaRPr lang="it-IT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Google Shape;255;p21"/>
              <p:cNvSpPr txBox="1"/>
              <p:nvPr/>
            </p:nvSpPr>
            <p:spPr>
              <a:xfrm>
                <a:off x="671513" y="2279259"/>
                <a:ext cx="3535560" cy="340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350" b="1" i="0" u="none" strike="noStrike" cap="none" noProof="0" dirty="0">
                    <a:solidFill>
                      <a:srgbClr val="E2E8F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2. Velocità verticale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350" b="1" i="1" u="none" strike="noStrike" cap="none" noProof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sz="1350" b="1" i="1" u="none" strike="noStrike" cap="none" noProof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𝒗</m:t>
                        </m:r>
                      </m:e>
                      <m:sub>
                        <m:r>
                          <a:rPr lang="it-IT" sz="1350" b="1" i="1" u="none" strike="noStrike" cap="none" noProof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𝒚</m:t>
                        </m:r>
                      </m:sub>
                    </m:sSub>
                    <m:d>
                      <m:dPr>
                        <m:ctrlPr>
                          <a:rPr lang="it-IT" sz="1350" b="1" i="1" u="none" strike="noStrike" cap="none" noProof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dPr>
                      <m:e>
                        <m:r>
                          <a:rPr lang="it-IT" sz="1350" b="1" i="1" u="none" strike="noStrike" cap="none" noProof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𝒕</m:t>
                        </m:r>
                      </m:e>
                    </m:d>
                  </m:oMath>
                </a14:m>
                <a:endParaRPr lang="it-IT" noProof="0" dirty="0"/>
              </a:p>
            </p:txBody>
          </p:sp>
        </mc:Choice>
        <mc:Fallback>
          <p:sp>
            <p:nvSpPr>
              <p:cNvPr id="255" name="Google Shape;255;p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13" y="2279259"/>
                <a:ext cx="3535560" cy="340221"/>
              </a:xfrm>
              <a:prstGeom prst="rect">
                <a:avLst/>
              </a:prstGeom>
              <a:blipFill>
                <a:blip r:embed="rId6"/>
                <a:stretch>
                  <a:fillRect l="-2931" b="-160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7" name="Google Shape;257;p21"/>
          <p:cNvSpPr txBox="1"/>
          <p:nvPr/>
        </p:nvSpPr>
        <p:spPr>
          <a:xfrm>
            <a:off x="671513" y="3283395"/>
            <a:ext cx="353556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3. Velocità Max</a:t>
            </a:r>
            <a:endParaRPr lang="it-IT" noProof="0" dirty="0"/>
          </a:p>
        </p:txBody>
      </p:sp>
      <p:sp>
        <p:nvSpPr>
          <p:cNvPr id="259" name="Google Shape;259;p21"/>
          <p:cNvSpPr txBox="1"/>
          <p:nvPr/>
        </p:nvSpPr>
        <p:spPr>
          <a:xfrm>
            <a:off x="671513" y="4342710"/>
            <a:ext cx="353556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4. Distanza Atterraggio</a:t>
            </a:r>
            <a:endParaRPr lang="it-IT" noProof="0" dirty="0"/>
          </a:p>
        </p:txBody>
      </p:sp>
      <p:sp>
        <p:nvSpPr>
          <p:cNvPr id="261" name="Google Shape;261;p21"/>
          <p:cNvSpPr txBox="1"/>
          <p:nvPr/>
        </p:nvSpPr>
        <p:spPr>
          <a:xfrm rot="10800000" flipV="1">
            <a:off x="729328" y="5209351"/>
            <a:ext cx="2913758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5. Velocità Atterraggio</a:t>
            </a:r>
            <a:endParaRPr lang="it-IT" noProof="0" dirty="0"/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2F865FC6-F390-3F5F-964B-D89CA9BD26D4}"/>
              </a:ext>
            </a:extLst>
          </p:cNvPr>
          <p:cNvCxnSpPr>
            <a:cxnSpLocks/>
          </p:cNvCxnSpPr>
          <p:nvPr/>
        </p:nvCxnSpPr>
        <p:spPr>
          <a:xfrm flipV="1">
            <a:off x="320673" y="769717"/>
            <a:ext cx="4141986" cy="667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B2C4DD9A-579E-4136-A42B-AACFF934D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370" y="1473286"/>
                <a:ext cx="4264888" cy="7848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it-IT" sz="1125" i="1" noProof="0" dirty="0">
                    <a:solidFill>
                      <a:srgbClr val="94A3B8"/>
                    </a:solidFill>
                    <a:latin typeface="Cambria Math" panose="02040503050406030204" pitchFamily="18" charset="0"/>
                  </a:rPr>
                  <a:t>L'invarianza visiva delle curve dimostra che la componente orizzontale del moto viene quasi totalmente dissipata prima dell'apertura del paracadute, rendendo lo spostamento residuo influenzato 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25" i="1" noProof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25" i="1" noProof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t-IT" sz="1125" i="1" noProof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it-IT" sz="1125" i="1" noProof="0" dirty="0">
                    <a:solidFill>
                      <a:srgbClr val="94A3B8"/>
                    </a:solidFill>
                    <a:latin typeface="Cambria Math" panose="02040503050406030204" pitchFamily="18" charset="0"/>
                  </a:rPr>
                  <a:t>del tutto marginale</a:t>
                </a: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B2C4DD9A-579E-4136-A42B-AACFF934D5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370" y="1473286"/>
                <a:ext cx="4264888" cy="784830"/>
              </a:xfrm>
              <a:prstGeom prst="rect">
                <a:avLst/>
              </a:prstGeom>
              <a:blipFill>
                <a:blip r:embed="rId7"/>
                <a:stretch>
                  <a:fillRect b="-46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D8A9E6B1-44D0-77A0-DDAA-AF8222B76C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680908" y="3590537"/>
                <a:ext cx="3421516" cy="7848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it-IT" sz="1125" i="1" noProof="0" dirty="0">
                    <a:solidFill>
                      <a:srgbClr val="94A3B8"/>
                    </a:solidFill>
                    <a:latin typeface="Cambria Math" panose="02040503050406030204" pitchFamily="18" charset="0"/>
                  </a:rPr>
                  <a:t>La costanza 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it-IT" sz="1125" i="1" noProof="0" dirty="0">
                    <a:solidFill>
                      <a:srgbClr val="94A3B8"/>
                    </a:solidFill>
                    <a:latin typeface="Cambria Math" panose="02040503050406030204" pitchFamily="18" charset="0"/>
                  </a:rPr>
                  <a:t>conferma che  è una proprietà intrinseca della fase di caduta libera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it-IT" sz="1125" i="1" noProof="0" dirty="0">
                    <a:solidFill>
                      <a:srgbClr val="94A3B8"/>
                    </a:solidFill>
                    <a:latin typeface="Cambria Math" panose="02040503050406030204" pitchFamily="18" charset="0"/>
                  </a:rPr>
                  <a:t>, risultando indipendente dalla configurazione del paracadute che verrà attivata solo in un istante successivo.</a:t>
                </a:r>
              </a:p>
            </p:txBody>
          </p:sp>
        </mc:Choice>
        <mc:Fallback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D8A9E6B1-44D0-77A0-DDAA-AF8222B76C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0800000" flipV="1">
                <a:off x="680908" y="3590537"/>
                <a:ext cx="3421516" cy="784830"/>
              </a:xfrm>
              <a:prstGeom prst="rect">
                <a:avLst/>
              </a:prstGeom>
              <a:blipFill>
                <a:blip r:embed="rId8"/>
                <a:stretch>
                  <a:fillRect b="-46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F5653EF8-2D86-A88D-D705-D07543F69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349" y="4599885"/>
                <a:ext cx="3535560" cy="6117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it-IT" sz="1125" i="1" noProof="0" dirty="0">
                    <a:solidFill>
                      <a:srgbClr val="94A3B8"/>
                    </a:solidFill>
                    <a:latin typeface="Cambria Math" panose="02040503050406030204" pitchFamily="18" charset="0"/>
                  </a:rPr>
                  <a:t>La lieve flessione della gittata attesta che un incremento 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it-IT" sz="1125" i="1" noProof="0" dirty="0">
                    <a:solidFill>
                      <a:srgbClr val="94A3B8"/>
                    </a:solidFill>
                    <a:latin typeface="Cambria Math" panose="02040503050406030204" pitchFamily="18" charset="0"/>
                  </a:rPr>
                  <a:t>smorza più efficacemente la velocità orizzontale superstite</a:t>
                </a:r>
              </a:p>
            </p:txBody>
          </p:sp>
        </mc:Choice>
        <mc:Fallback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F5653EF8-2D86-A88D-D705-D07543F69C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1349" y="4599885"/>
                <a:ext cx="3535560" cy="611706"/>
              </a:xfrm>
              <a:prstGeom prst="rect">
                <a:avLst/>
              </a:prstGeom>
              <a:blipFill>
                <a:blip r:embed="rId9"/>
                <a:stretch>
                  <a:fillRect b="-6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8A915687-0E60-6489-1D8A-D329D000D4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641348" y="5568574"/>
                <a:ext cx="3623539" cy="6117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it-IT" sz="1125" i="1" noProof="0" dirty="0">
                    <a:solidFill>
                      <a:srgbClr val="94A3B8"/>
                    </a:solidFill>
                    <a:latin typeface="Cambria Math" panose="02040503050406030204" pitchFamily="18" charset="0"/>
                  </a:rPr>
                  <a:t>L’andamento iperbolico valida matematicamente la relazione di proporzionalità inversa tra velocità d'impatto e attrito viscoso </a:t>
                </a:r>
                <a14:m>
                  <m:oMath xmlns:m="http://schemas.openxmlformats.org/officeDocument/2006/math">
                    <m:r>
                      <a:rPr lang="it-IT" sz="1125" i="1" noProof="0">
                        <a:solidFill>
                          <a:srgbClr val="94A3B8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it-IT" sz="1125" i="1" noProof="0">
                        <a:solidFill>
                          <a:srgbClr val="94A3B8"/>
                        </a:solidFill>
                        <a:latin typeface="Cambria Math" panose="02040503050406030204" pitchFamily="18" charset="0"/>
                      </a:rPr>
                      <m:t>∝1</m:t>
                    </m:r>
                    <m:r>
                      <m:rPr>
                        <m:lit/>
                      </m:rPr>
                      <a:rPr lang="it-IT" sz="1125" i="1" noProof="0">
                        <a:solidFill>
                          <a:srgbClr val="94A3B8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it-IT" sz="1125" i="1" noProof="0" dirty="0">
                  <a:solidFill>
                    <a:srgbClr val="94A3B8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8A915687-0E60-6489-1D8A-D329D000D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0800000" flipV="1">
                <a:off x="641348" y="5568574"/>
                <a:ext cx="3623539" cy="611706"/>
              </a:xfrm>
              <a:prstGeom prst="rect">
                <a:avLst/>
              </a:prstGeom>
              <a:blipFill>
                <a:blip r:embed="rId10"/>
                <a:stretch>
                  <a:fillRect b="-5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58AF073D-A36E-B196-196C-B41FA6C58F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348" y="2621848"/>
                <a:ext cx="3280229" cy="6117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it-IT" sz="1125" i="1" noProof="0" dirty="0">
                    <a:solidFill>
                      <a:srgbClr val="94A3B8"/>
                    </a:solidFill>
                    <a:latin typeface="Cambria Math" panose="02040503050406030204" pitchFamily="18" charset="0"/>
                  </a:rPr>
                  <a:t>mostra la transizione verso la velocità limite: 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it-IT" sz="1125" i="1" noProof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it-IT" sz="1125" i="1" noProof="0" dirty="0">
                    <a:solidFill>
                      <a:srgbClr val="94A3B8"/>
                    </a:solidFill>
                    <a:latin typeface="Cambria Math" panose="02040503050406030204" pitchFamily="18" charset="0"/>
                  </a:rPr>
                  <a:t>più elevato produce una decelerazione più rapida e un valore finale di impatto ridotto.</a:t>
                </a:r>
              </a:p>
            </p:txBody>
          </p:sp>
        </mc:Choice>
        <mc:Fallback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58AF073D-A36E-B196-196C-B41FA6C58F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1348" y="2621848"/>
                <a:ext cx="3280229" cy="611706"/>
              </a:xfrm>
              <a:prstGeom prst="rect">
                <a:avLst/>
              </a:prstGeom>
              <a:blipFill>
                <a:blip r:embed="rId11"/>
                <a:stretch>
                  <a:fillRect b="-7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magine 10" descr="Immagine che contiene testo, diagramma, linea, Piano&#10;&#10;Il contenuto generato dall'IA potrebbe non essere corretto.">
            <a:extLst>
              <a:ext uri="{FF2B5EF4-FFF2-40B4-BE49-F238E27FC236}">
                <a16:creationId xmlns:a16="http://schemas.microsoft.com/office/drawing/2014/main" id="{D934AD3E-7198-00FC-6E61-4B4F47EE8E5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091" t="9569" r="66688" b="49387"/>
          <a:stretch>
            <a:fillRect/>
          </a:stretch>
        </p:blipFill>
        <p:spPr>
          <a:xfrm>
            <a:off x="5008987" y="184798"/>
            <a:ext cx="3255311" cy="2073318"/>
          </a:xfrm>
          <a:prstGeom prst="rect">
            <a:avLst/>
          </a:prstGeom>
        </p:spPr>
      </p:pic>
      <p:pic>
        <p:nvPicPr>
          <p:cNvPr id="15" name="Immagine 14" descr="Immagine che contiene testo, diagramma, linea, Piano">
            <a:extLst>
              <a:ext uri="{FF2B5EF4-FFF2-40B4-BE49-F238E27FC236}">
                <a16:creationId xmlns:a16="http://schemas.microsoft.com/office/drawing/2014/main" id="{F3D52C29-0BD1-2C7E-C2FB-BA4CD33A7E9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5627" t="8323" r="33731" b="46102"/>
          <a:stretch>
            <a:fillRect/>
          </a:stretch>
        </p:blipFill>
        <p:spPr>
          <a:xfrm>
            <a:off x="8847750" y="79540"/>
            <a:ext cx="2988651" cy="2222522"/>
          </a:xfrm>
          <a:prstGeom prst="rect">
            <a:avLst/>
          </a:prstGeom>
        </p:spPr>
      </p:pic>
      <p:pic>
        <p:nvPicPr>
          <p:cNvPr id="17" name="Immagine 16" descr="Immagine che contiene testo, diagramma, linea, Piano">
            <a:extLst>
              <a:ext uri="{FF2B5EF4-FFF2-40B4-BE49-F238E27FC236}">
                <a16:creationId xmlns:a16="http://schemas.microsoft.com/office/drawing/2014/main" id="{8F7A5035-0B30-5C5B-4DBA-CD3ABAE75FA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6219" t="8158" b="45040"/>
          <a:stretch>
            <a:fillRect/>
          </a:stretch>
        </p:blipFill>
        <p:spPr>
          <a:xfrm>
            <a:off x="5008987" y="2501314"/>
            <a:ext cx="3255311" cy="2255044"/>
          </a:xfrm>
          <a:prstGeom prst="rect">
            <a:avLst/>
          </a:prstGeom>
        </p:spPr>
      </p:pic>
      <p:pic>
        <p:nvPicPr>
          <p:cNvPr id="19" name="Immagine 18" descr="Immagine che contiene testo, diagramma, linea, Piano&#10;&#10;Il contenuto generato dall'IA potrebbe non essere corretto.">
            <a:extLst>
              <a:ext uri="{FF2B5EF4-FFF2-40B4-BE49-F238E27FC236}">
                <a16:creationId xmlns:a16="http://schemas.microsoft.com/office/drawing/2014/main" id="{97C2453D-809E-D5D6-D32B-D294747D12F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53898" r="66688" b="1529"/>
          <a:stretch>
            <a:fillRect/>
          </a:stretch>
        </p:blipFill>
        <p:spPr>
          <a:xfrm>
            <a:off x="8792986" y="2504225"/>
            <a:ext cx="3098178" cy="2072689"/>
          </a:xfrm>
          <a:prstGeom prst="rect">
            <a:avLst/>
          </a:prstGeom>
        </p:spPr>
      </p:pic>
      <p:pic>
        <p:nvPicPr>
          <p:cNvPr id="21" name="Immagine 20" descr="Immagine che contiene testo, diagramma, linea, Piano&#10;&#10;Il contenuto generato dall'IA potrebbe non essere corretto.">
            <a:extLst>
              <a:ext uri="{FF2B5EF4-FFF2-40B4-BE49-F238E27FC236}">
                <a16:creationId xmlns:a16="http://schemas.microsoft.com/office/drawing/2014/main" id="{D3CFB447-33B8-C9F7-666D-F5E67710544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4797" t="52944" r="5687" b="1773"/>
          <a:stretch>
            <a:fillRect/>
          </a:stretch>
        </p:blipFill>
        <p:spPr>
          <a:xfrm>
            <a:off x="5311115" y="4683206"/>
            <a:ext cx="5638831" cy="21451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1">
                <a:extLst>
                  <a:ext uri="{FF2B5EF4-FFF2-40B4-BE49-F238E27FC236}">
                    <a16:creationId xmlns:a16="http://schemas.microsoft.com/office/drawing/2014/main" id="{43DAFD13-E4B8-407C-96BE-7884C51A77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224" y="5209351"/>
                <a:ext cx="1284898" cy="954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i="1" noProof="0" smtClean="0">
                            <a:solidFill>
                              <a:srgbClr val="436C9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noProof="0" smtClean="0">
                            <a:solidFill>
                              <a:srgbClr val="436C9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i="1" noProof="0" smtClean="0">
                            <a:solidFill>
                              <a:srgbClr val="436C9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it-IT" i="1" noProof="0" dirty="0">
                    <a:solidFill>
                      <a:srgbClr val="436C9E"/>
                    </a:solidFill>
                    <a:latin typeface="Cambria Math" panose="02040503050406030204" pitchFamily="18" charset="0"/>
                  </a:rPr>
                  <a:t>che varia nell’intervallo  [20, 100] con passo di 20</a:t>
                </a:r>
              </a:p>
            </p:txBody>
          </p:sp>
        </mc:Choice>
        <mc:Fallback>
          <p:sp>
            <p:nvSpPr>
              <p:cNvPr id="22" name="Rectangle 1">
                <a:extLst>
                  <a:ext uri="{FF2B5EF4-FFF2-40B4-BE49-F238E27FC236}">
                    <a16:creationId xmlns:a16="http://schemas.microsoft.com/office/drawing/2014/main" id="{43DAFD13-E4B8-407C-96BE-7884C51A7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20224" y="5209351"/>
                <a:ext cx="1284898" cy="954107"/>
              </a:xfrm>
              <a:prstGeom prst="rect">
                <a:avLst/>
              </a:prstGeom>
              <a:blipFill>
                <a:blip r:embed="rId13"/>
                <a:stretch>
                  <a:fillRect l="-1422" t="-1282" r="-3791" b="-57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 txBox="1"/>
          <p:nvPr/>
        </p:nvSpPr>
        <p:spPr>
          <a:xfrm>
            <a:off x="2615057" y="1349395"/>
            <a:ext cx="6771383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it-IT" noProof="0" dirty="0">
                <a:solidFill>
                  <a:srgbClr val="CBD5E1"/>
                </a:solidFill>
                <a:latin typeface="Montserrat"/>
              </a:rPr>
              <a:t>Introduzione della variabilità naturale (Monte Carlo)</a:t>
            </a:r>
          </a:p>
          <a:p>
            <a:pPr algn="ctr"/>
            <a:br>
              <a:rPr lang="it-IT" noProof="0" dirty="0">
                <a:solidFill>
                  <a:srgbClr val="CBD5E1"/>
                </a:solidFill>
                <a:latin typeface="Montserrat"/>
              </a:rPr>
            </a:br>
            <a:r>
              <a:rPr lang="it-IT" noProof="0" dirty="0">
                <a:solidFill>
                  <a:srgbClr val="CBD5E1"/>
                </a:solidFill>
                <a:latin typeface="Montserrat"/>
              </a:rPr>
              <a:t>1. Variabilità biologica della massa (Distribuzione Gaussiana).</a:t>
            </a:r>
          </a:p>
          <a:p>
            <a:pPr algn="ctr"/>
            <a:br>
              <a:rPr lang="it-IT" noProof="0" dirty="0">
                <a:solidFill>
                  <a:srgbClr val="CBD5E1"/>
                </a:solidFill>
                <a:latin typeface="Montserrat"/>
              </a:rPr>
            </a:br>
            <a:r>
              <a:rPr lang="it-IT" noProof="0" dirty="0">
                <a:solidFill>
                  <a:srgbClr val="CBD5E1"/>
                </a:solidFill>
                <a:latin typeface="Montserrat"/>
              </a:rPr>
              <a:t>2. Tempi di lancio non costanti (Distribuzione di Poisson).</a:t>
            </a:r>
          </a:p>
          <a:p>
            <a:br>
              <a:rPr lang="it-IT" noProof="0" dirty="0"/>
            </a:br>
            <a:endParaRPr lang="it-IT" noProof="0" dirty="0">
              <a:solidFill>
                <a:srgbClr val="436C9E"/>
              </a:solidFill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982382A8-DC0E-A9AB-8303-A3D940A33C86}"/>
              </a:ext>
            </a:extLst>
          </p:cNvPr>
          <p:cNvGrpSpPr/>
          <p:nvPr/>
        </p:nvGrpSpPr>
        <p:grpSpPr>
          <a:xfrm>
            <a:off x="489943" y="3000375"/>
            <a:ext cx="2614612" cy="2438400"/>
            <a:chOff x="581025" y="2714625"/>
            <a:chExt cx="2614612" cy="2438400"/>
          </a:xfrm>
        </p:grpSpPr>
        <p:pic>
          <p:nvPicPr>
            <p:cNvPr id="279" name="Google Shape;279;p23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81025" y="2714625"/>
              <a:ext cx="2614612" cy="243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3"/>
            <p:cNvSpPr txBox="1"/>
            <p:nvPr/>
          </p:nvSpPr>
          <p:spPr>
            <a:xfrm>
              <a:off x="725685" y="3524250"/>
              <a:ext cx="2325290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500" b="0" i="0" u="none" strike="noStrike" cap="none" noProof="0" dirty="0">
                  <a:solidFill>
                    <a:srgbClr val="E2E8F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Popolazioni</a:t>
              </a:r>
              <a:endParaRPr lang="it-IT" noProof="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4" name="Google Shape;284;p23"/>
                <p:cNvSpPr txBox="1"/>
                <p:nvPr/>
              </p:nvSpPr>
              <p:spPr>
                <a:xfrm>
                  <a:off x="781050" y="3952875"/>
                  <a:ext cx="2214562" cy="4882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93722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it-IT" sz="1125" b="0" i="0" u="none" strike="noStrike" cap="none" noProof="0" dirty="0">
                      <a:solidFill>
                        <a:srgbClr val="CBD5E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Uomini </a:t>
                  </a:r>
                  <a:r>
                    <a:rPr lang="it-IT" sz="1125" noProof="0" dirty="0">
                      <a:solidFill>
                        <a:srgbClr val="CBD5E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it-IT" sz="1125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𝜇</m:t>
                      </m:r>
                      <m:r>
                        <a:rPr lang="it-IT" sz="1125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=75, </m:t>
                      </m:r>
                      <m:r>
                        <a:rPr lang="it-IT" sz="1125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𝜎</m:t>
                      </m:r>
                      <m:r>
                        <a:rPr lang="it-IT" sz="1125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=3</m:t>
                      </m:r>
                    </m:oMath>
                  </a14:m>
                  <a:br>
                    <a:rPr lang="it-IT" sz="1800" b="0" i="0" u="none" strike="noStrike" cap="none" noProof="0" dirty="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</a:br>
                  <a:r>
                    <a:rPr lang="it-IT" sz="1125" b="0" i="0" u="none" strike="noStrike" cap="none" noProof="0" dirty="0">
                      <a:solidFill>
                        <a:srgbClr val="CBD5E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 Donne </a:t>
                  </a:r>
                  <a14:m>
                    <m:oMath xmlns:m="http://schemas.openxmlformats.org/officeDocument/2006/math">
                      <m:r>
                        <a:rPr lang="it-IT" sz="1125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𝜇</m:t>
                      </m:r>
                      <m:r>
                        <a:rPr lang="it-IT" sz="1125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=60, </m:t>
                      </m:r>
                      <m:r>
                        <a:rPr lang="it-IT" sz="1125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𝜎</m:t>
                      </m:r>
                      <m:r>
                        <a:rPr lang="it-IT" sz="1125" b="0" i="1" u="none" strike="noStrike" cap="none" noProof="0" smtClean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  <a:ea typeface="Montserrat"/>
                          <a:cs typeface="Montserrat"/>
                          <a:sym typeface="Montserrat"/>
                        </a:rPr>
                        <m:t>=2</m:t>
                      </m:r>
                    </m:oMath>
                  </a14:m>
                  <a:r>
                    <a:rPr lang="it-IT" sz="1125" b="0" i="0" u="none" strike="noStrike" cap="none" noProof="0" dirty="0">
                      <a:solidFill>
                        <a:srgbClr val="CBD5E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.</a:t>
                  </a:r>
                  <a:br>
                    <a:rPr lang="it-IT" sz="1800" b="0" i="0" u="none" strike="noStrike" cap="none" noProof="0" dirty="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</a:br>
                  <a:r>
                    <a:rPr lang="it-IT" sz="1125" b="0" i="0" u="none" strike="noStrike" cap="none" noProof="0" dirty="0">
                      <a:solidFill>
                        <a:srgbClr val="CBD5E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 Modellate con .</a:t>
                  </a:r>
                  <a:endParaRPr lang="it-IT" noProof="0" dirty="0"/>
                </a:p>
              </p:txBody>
            </p:sp>
          </mc:Choice>
          <mc:Fallback>
            <p:sp>
              <p:nvSpPr>
                <p:cNvPr id="284" name="Google Shape;284;p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050" y="3952875"/>
                  <a:ext cx="2214562" cy="488211"/>
                </a:xfrm>
                <a:prstGeom prst="rect">
                  <a:avLst/>
                </a:prstGeom>
                <a:blipFill>
                  <a:blip r:embed="rId5"/>
                  <a:stretch>
                    <a:fillRect t="-11250" b="-187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1" name="Google Shape;291;p23" descr="image.png"/>
            <p:cNvPicPr preferRelativeResize="0"/>
            <p:nvPr/>
          </p:nvPicPr>
          <p:blipFill rotWithShape="1">
            <a:blip r:embed="rId6">
              <a:alphaModFix/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1674018" y="3000375"/>
              <a:ext cx="428625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3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169193" y="4567237"/>
              <a:ext cx="1409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uppo 2">
            <a:extLst>
              <a:ext uri="{FF2B5EF4-FFF2-40B4-BE49-F238E27FC236}">
                <a16:creationId xmlns:a16="http://schemas.microsoft.com/office/drawing/2014/main" id="{8D6D5AFF-6078-7F47-CE44-06D7DC96A2D9}"/>
              </a:ext>
            </a:extLst>
          </p:cNvPr>
          <p:cNvGrpSpPr/>
          <p:nvPr/>
        </p:nvGrpSpPr>
        <p:grpSpPr>
          <a:xfrm>
            <a:off x="3361136" y="3000375"/>
            <a:ext cx="2614612" cy="2438400"/>
            <a:chOff x="3386137" y="2714625"/>
            <a:chExt cx="2614612" cy="2438400"/>
          </a:xfrm>
        </p:grpSpPr>
        <p:pic>
          <p:nvPicPr>
            <p:cNvPr id="280" name="Google Shape;280;p23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386137" y="2714625"/>
              <a:ext cx="2614612" cy="243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23"/>
            <p:cNvSpPr txBox="1"/>
            <p:nvPr/>
          </p:nvSpPr>
          <p:spPr>
            <a:xfrm>
              <a:off x="3530798" y="3524250"/>
              <a:ext cx="2325290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500" b="0" i="0" u="none" strike="noStrike" cap="none" noProof="0" dirty="0">
                  <a:solidFill>
                    <a:srgbClr val="E2E8F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Tempi Lancio</a:t>
              </a:r>
              <a:endParaRPr lang="it-IT" noProof="0" dirty="0"/>
            </a:p>
          </p:txBody>
        </p:sp>
        <p:sp>
          <p:nvSpPr>
            <p:cNvPr id="286" name="Google Shape;286;p23"/>
            <p:cNvSpPr txBox="1"/>
            <p:nvPr/>
          </p:nvSpPr>
          <p:spPr>
            <a:xfrm>
              <a:off x="3586162" y="3952875"/>
              <a:ext cx="2214562" cy="488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125" b="0" i="0" u="none" strike="noStrike" cap="none" noProof="0" dirty="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Processo di Poisson.</a:t>
              </a:r>
              <a:br>
                <a:rPr lang="it-IT" sz="1800" b="0" i="0" u="none" strike="noStrike" cap="none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it-IT" sz="1125" b="0" i="0" u="none" strike="noStrike" cap="none" noProof="0" dirty="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Intervalli temporali dt generati con .</a:t>
              </a:r>
              <a:endParaRPr lang="it-IT" noProof="0" dirty="0"/>
            </a:p>
          </p:txBody>
        </p:sp>
        <p:pic>
          <p:nvPicPr>
            <p:cNvPr id="293" name="Google Shape;293;p23" descr="image.png"/>
            <p:cNvPicPr preferRelativeResize="0"/>
            <p:nvPr/>
          </p:nvPicPr>
          <p:blipFill rotWithShape="1">
            <a:blip r:embed="rId9">
              <a:alphaModFix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aturation sat="33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4521993" y="3000375"/>
              <a:ext cx="342900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23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783806" y="4567237"/>
              <a:ext cx="1790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uppo 3">
            <a:extLst>
              <a:ext uri="{FF2B5EF4-FFF2-40B4-BE49-F238E27FC236}">
                <a16:creationId xmlns:a16="http://schemas.microsoft.com/office/drawing/2014/main" id="{AA4192F8-D6D2-E3B8-836D-C6D42F5DC1CC}"/>
              </a:ext>
            </a:extLst>
          </p:cNvPr>
          <p:cNvGrpSpPr/>
          <p:nvPr/>
        </p:nvGrpSpPr>
        <p:grpSpPr>
          <a:xfrm>
            <a:off x="6310229" y="2998561"/>
            <a:ext cx="2614612" cy="2438400"/>
            <a:chOff x="6191250" y="2714625"/>
            <a:chExt cx="2614612" cy="2438400"/>
          </a:xfrm>
        </p:grpSpPr>
        <p:pic>
          <p:nvPicPr>
            <p:cNvPr id="281" name="Google Shape;281;p23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6191250" y="2714625"/>
              <a:ext cx="2614612" cy="243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3"/>
            <p:cNvSpPr txBox="1"/>
            <p:nvPr/>
          </p:nvSpPr>
          <p:spPr>
            <a:xfrm>
              <a:off x="6335910" y="3524250"/>
              <a:ext cx="2325290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500" b="0" i="0" u="none" strike="noStrike" cap="none" noProof="0" dirty="0">
                  <a:solidFill>
                    <a:srgbClr val="E2E8F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Vettorizzazione</a:t>
              </a:r>
              <a:endParaRPr lang="it-IT" noProof="0" dirty="0"/>
            </a:p>
          </p:txBody>
        </p:sp>
        <p:sp>
          <p:nvSpPr>
            <p:cNvPr id="288" name="Google Shape;288;p23"/>
            <p:cNvSpPr txBox="1"/>
            <p:nvPr/>
          </p:nvSpPr>
          <p:spPr>
            <a:xfrm>
              <a:off x="6391275" y="3952875"/>
              <a:ext cx="2214562" cy="7790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125" b="0" i="0" u="none" strike="noStrike" cap="none" noProof="0" dirty="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Utilizzo di array NumPy e slicing per evitare cicli lenti e ottimizzare la memoria.</a:t>
              </a:r>
              <a:endParaRPr lang="it-IT" noProof="0" dirty="0"/>
            </a:p>
          </p:txBody>
        </p:sp>
        <p:pic>
          <p:nvPicPr>
            <p:cNvPr id="295" name="Google Shape;295;p23" descr="image.png"/>
            <p:cNvPicPr preferRelativeResize="0"/>
            <p:nvPr/>
          </p:nvPicPr>
          <p:blipFill rotWithShape="1">
            <a:blip r:embed="rId13">
              <a:alphaModFix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saturation sat="33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7303293" y="3000375"/>
              <a:ext cx="390525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3" descr="image.png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7022305" y="4771344"/>
              <a:ext cx="9525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8" name="Google Shape;298;p23"/>
          <p:cNvSpPr txBox="1"/>
          <p:nvPr/>
        </p:nvSpPr>
        <p:spPr>
          <a:xfrm>
            <a:off x="581025" y="3905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50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Implementazione (simulazione.py)</a:t>
            </a:r>
            <a:endParaRPr lang="it-IT" noProof="0" dirty="0"/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B7257AB2-856E-ED4B-05DF-56DA1C96DFFB}"/>
              </a:ext>
            </a:extLst>
          </p:cNvPr>
          <p:cNvGrpSpPr/>
          <p:nvPr/>
        </p:nvGrpSpPr>
        <p:grpSpPr>
          <a:xfrm>
            <a:off x="9204127" y="2998561"/>
            <a:ext cx="2614612" cy="2438400"/>
            <a:chOff x="8996362" y="2714625"/>
            <a:chExt cx="2614612" cy="2438400"/>
          </a:xfrm>
        </p:grpSpPr>
        <p:pic>
          <p:nvPicPr>
            <p:cNvPr id="282" name="Google Shape;282;p23" descr="image.png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8996362" y="2714625"/>
              <a:ext cx="2614612" cy="2438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23" descr="image.png"/>
            <p:cNvPicPr preferRelativeResize="0"/>
            <p:nvPr/>
          </p:nvPicPr>
          <p:blipFill rotWithShape="1">
            <a:blip r:embed="rId17">
              <a:alphaModFix/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saturation sat="33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0132218" y="3000375"/>
              <a:ext cx="342900" cy="3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4512C9CE-728D-0120-A3A0-C90E911FD20C}"/>
                </a:ext>
              </a:extLst>
            </p:cNvPr>
            <p:cNvSpPr txBox="1"/>
            <p:nvPr/>
          </p:nvSpPr>
          <p:spPr>
            <a:xfrm>
              <a:off x="9975743" y="3428371"/>
              <a:ext cx="75693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500" noProof="0" dirty="0">
                  <a:solidFill>
                    <a:srgbClr val="E2E8F0"/>
                  </a:solidFill>
                  <a:latin typeface="Montserrat ExtraBold"/>
                </a:rPr>
                <a:t>Seme</a:t>
              </a:r>
            </a:p>
          </p:txBody>
        </p:sp>
      </p:grpSp>
      <p:sp>
        <p:nvSpPr>
          <p:cNvPr id="7" name="Rectangle 2">
            <a:extLst>
              <a:ext uri="{FF2B5EF4-FFF2-40B4-BE49-F238E27FC236}">
                <a16:creationId xmlns:a16="http://schemas.microsoft.com/office/drawing/2014/main" id="{BE0F4AC1-20B4-6D29-D052-5E125D79A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9322" y="4060800"/>
            <a:ext cx="2482967" cy="1131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sz="1125" noProof="0" dirty="0">
                <a:solidFill>
                  <a:srgbClr val="CBD5E1"/>
                </a:solidFill>
                <a:latin typeface="Montserrat"/>
              </a:rPr>
              <a:t>permette infatti di generare la stessa sequenza di numeri pseudo-casuali a ogni esecuzione, i grafici dipendano esclusivamente dalle variazioni dei parametri fisici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092D358A-AC73-9CEB-D370-39FC57142CA4}"/>
              </a:ext>
            </a:extLst>
          </p:cNvPr>
          <p:cNvCxnSpPr>
            <a:cxnSpLocks/>
          </p:cNvCxnSpPr>
          <p:nvPr/>
        </p:nvCxnSpPr>
        <p:spPr>
          <a:xfrm>
            <a:off x="397123" y="1166135"/>
            <a:ext cx="1142161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0249483-F20D-EB78-DA00-433BE9A31C62}"/>
              </a:ext>
            </a:extLst>
          </p:cNvPr>
          <p:cNvSpPr txBox="1"/>
          <p:nvPr/>
        </p:nvSpPr>
        <p:spPr>
          <a:xfrm>
            <a:off x="3165822" y="5846863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/>
              <a:buNone/>
            </a:pPr>
            <a:r>
              <a:rPr lang="it-IT" noProof="0" dirty="0">
                <a:solidFill>
                  <a:srgbClr val="CBD5E1"/>
                </a:solidFill>
                <a:latin typeface="Montserrat"/>
              </a:rPr>
              <a:t>il metodo Monte Carlo ci permette di prevedere con certezza probabilistica l'area di impatto e i margini di sicurezza necessari.</a:t>
            </a:r>
          </a:p>
        </p:txBody>
      </p:sp>
      <p:pic>
        <p:nvPicPr>
          <p:cNvPr id="17" name="Google Shape;137;p16" descr="image.png">
            <a:extLst>
              <a:ext uri="{FF2B5EF4-FFF2-40B4-BE49-F238E27FC236}">
                <a16:creationId xmlns:a16="http://schemas.microsoft.com/office/drawing/2014/main" id="{4A671D7B-3FB7-516B-5056-48968640C77D}"/>
              </a:ext>
            </a:extLst>
          </p:cNvPr>
          <p:cNvPicPr preferRelativeResize="0"/>
          <p:nvPr/>
        </p:nvPicPr>
        <p:blipFill rotWithShape="1">
          <a:blip r:embed="rId19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518564" y="5762039"/>
            <a:ext cx="9154872" cy="696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4"/>
          <p:cNvSpPr txBox="1"/>
          <p:nvPr/>
        </p:nvSpPr>
        <p:spPr>
          <a:xfrm>
            <a:off x="1669596" y="2055465"/>
            <a:ext cx="2713718" cy="36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79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Analisi del Trasporto</a:t>
            </a:r>
            <a:endParaRPr lang="it-IT" noProof="0" dirty="0"/>
          </a:p>
        </p:txBody>
      </p:sp>
      <p:sp>
        <p:nvSpPr>
          <p:cNvPr id="307" name="Google Shape;307;p24"/>
          <p:cNvSpPr txBox="1"/>
          <p:nvPr/>
        </p:nvSpPr>
        <p:spPr>
          <a:xfrm>
            <a:off x="581025" y="2836515"/>
            <a:ext cx="5324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0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Il grafico Scatter mostra una chiara tendenza lineare dominante.</a:t>
            </a:r>
            <a:endParaRPr lang="it-IT" noProof="0" dirty="0"/>
          </a:p>
        </p:txBody>
      </p:sp>
      <p:sp>
        <p:nvSpPr>
          <p:cNvPr id="308" name="Google Shape;308;p24"/>
          <p:cNvSpPr txBox="1"/>
          <p:nvPr/>
        </p:nvSpPr>
        <p:spPr>
          <a:xfrm>
            <a:off x="581025" y="4817715"/>
            <a:ext cx="53244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it-IT" sz="1350" b="1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Conclusione:</a:t>
            </a:r>
            <a:r>
              <a:rPr lang="it-IT" sz="1350" b="0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it-IT" sz="1350" noProof="0" dirty="0">
                <a:solidFill>
                  <a:srgbClr val="CBD5E1"/>
                </a:solidFill>
                <a:latin typeface="Montserrat"/>
              </a:rPr>
              <a:t>Questo indica che lo spostamento dovuto al moto traslatorio dell'aereo è l'ordine di grandezza dominante, "coprendo" le piccole variazioni di gittata dovute alla differente massa biologica.</a:t>
            </a:r>
            <a:r>
              <a:rPr lang="it-IT" sz="1350" noProof="0" dirty="0">
                <a:solidFill>
                  <a:srgbClr val="CBD5E1"/>
                </a:solidFill>
                <a:latin typeface="Montserrat"/>
                <a:sym typeface="Montserrat"/>
              </a:rPr>
              <a:t>.</a:t>
            </a:r>
            <a:endParaRPr lang="it-IT" sz="1350" noProof="0" dirty="0">
              <a:solidFill>
                <a:srgbClr val="CBD5E1"/>
              </a:solidFill>
              <a:latin typeface="Montserra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0" name="Google Shape;310;p24"/>
              <p:cNvSpPr txBox="1"/>
              <p:nvPr/>
            </p:nvSpPr>
            <p:spPr>
              <a:xfrm>
                <a:off x="771525" y="3522315"/>
                <a:ext cx="5133975" cy="66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it-IT" sz="1350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La posizione finale dipende principalmente da dove si trovava </a:t>
                </a:r>
                <a:r>
                  <a:rPr lang="it-IT" sz="1350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l'aereo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350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</a:rPr>
                        </m:ctrlPr>
                      </m:sSubPr>
                      <m:e>
                        <m:r>
                          <a:rPr lang="it-IT" sz="1350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</a:rPr>
                          <m:t>𝑋</m:t>
                        </m:r>
                      </m:e>
                      <m:sub>
                        <m:r>
                          <a:rPr lang="it-IT" sz="1350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</a:rPr>
                          <m:t>𝑓𝑖𝑛𝑎𝑙𝑒</m:t>
                        </m:r>
                      </m:sub>
                    </m:sSub>
                    <m:r>
                      <a:rPr lang="it-IT" sz="1350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</a:rPr>
                      <m:t>=</m:t>
                    </m:r>
                    <m:sSub>
                      <m:sSubPr>
                        <m:ctrlPr>
                          <a:rPr lang="it-IT" sz="1350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</a:rPr>
                        </m:ctrlPr>
                      </m:sSubPr>
                      <m:e>
                        <m:r>
                          <a:rPr lang="it-IT" sz="1350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</a:rPr>
                          <m:t>𝑋</m:t>
                        </m:r>
                      </m:e>
                      <m:sub>
                        <m:r>
                          <a:rPr lang="it-IT" sz="1350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</a:rPr>
                          <m:t>𝑎𝑒𝑟𝑒𝑜</m:t>
                        </m:r>
                      </m:sub>
                    </m:sSub>
                    <m:d>
                      <m:dPr>
                        <m:ctrlPr>
                          <a:rPr lang="it-IT" sz="1350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</a:rPr>
                        </m:ctrlPr>
                      </m:dPr>
                      <m:e>
                        <m:r>
                          <a:rPr lang="it-IT" sz="1350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</a:rPr>
                          <m:t>𝑡</m:t>
                        </m:r>
                      </m:e>
                    </m:d>
                    <m:r>
                      <a:rPr lang="it-IT" sz="1350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</a:rPr>
                      <m:t>+</m:t>
                    </m:r>
                    <m:r>
                      <m:rPr>
                        <m:sty m:val="p"/>
                      </m:rPr>
                      <a:rPr lang="it-IT" sz="1350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</a:rPr>
                      <m:t>Δ</m:t>
                    </m:r>
                    <m:sSub>
                      <m:sSubPr>
                        <m:ctrlPr>
                          <a:rPr lang="it-IT" sz="1350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</a:rPr>
                        </m:ctrlPr>
                      </m:sSubPr>
                      <m:e>
                        <m:r>
                          <a:rPr lang="it-IT" sz="1350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</a:rPr>
                          <m:t>𝑋</m:t>
                        </m:r>
                      </m:e>
                      <m:sub>
                        <m:r>
                          <a:rPr lang="it-IT" sz="1350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</a:rPr>
                          <m:t>𝑣𝑜𝑙𝑜</m:t>
                        </m:r>
                      </m:sub>
                    </m:sSub>
                    <m:d>
                      <m:dPr>
                        <m:ctrlPr>
                          <a:rPr lang="it-IT" sz="1350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</a:rPr>
                        </m:ctrlPr>
                      </m:dPr>
                      <m:e>
                        <m:r>
                          <a:rPr lang="it-IT" sz="1350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</a:rPr>
                          <m:t>𝑚</m:t>
                        </m:r>
                      </m:e>
                    </m:d>
                  </m:oMath>
                </a14:m>
                <a:endParaRPr lang="it-IT" sz="1350" noProof="0" dirty="0">
                  <a:solidFill>
                    <a:srgbClr val="CBD5E1"/>
                  </a:solidFill>
                  <a:latin typeface="Montserrat"/>
                  <a:ea typeface="Montserrat"/>
                  <a:cs typeface="Montserrat"/>
                </a:endParaRPr>
              </a:p>
            </p:txBody>
          </p:sp>
        </mc:Choice>
        <mc:Fallback>
          <p:sp>
            <p:nvSpPr>
              <p:cNvPr id="310" name="Google Shape;310;p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5" y="3522315"/>
                <a:ext cx="5133975" cy="665375"/>
              </a:xfrm>
              <a:prstGeom prst="rect">
                <a:avLst/>
              </a:prstGeom>
              <a:blipFill>
                <a:blip r:embed="rId4"/>
                <a:stretch>
                  <a:fillRect l="-2138" b="-55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" name="Google Shape;311;p24"/>
          <p:cNvSpPr txBox="1"/>
          <p:nvPr/>
        </p:nvSpPr>
        <p:spPr>
          <a:xfrm>
            <a:off x="771525" y="4131915"/>
            <a:ext cx="51339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0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La variabilità della massa introduce solo una dispersione secondaria attorno alla retta.</a:t>
            </a:r>
            <a:endParaRPr lang="it-IT" noProof="0" dirty="0"/>
          </a:p>
        </p:txBody>
      </p:sp>
      <p:sp>
        <p:nvSpPr>
          <p:cNvPr id="312" name="Google Shape;312;p24"/>
          <p:cNvSpPr txBox="1"/>
          <p:nvPr/>
        </p:nvSpPr>
        <p:spPr>
          <a:xfrm>
            <a:off x="581025" y="3522315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313" name="Google Shape;313;p24"/>
          <p:cNvSpPr txBox="1"/>
          <p:nvPr/>
        </p:nvSpPr>
        <p:spPr>
          <a:xfrm>
            <a:off x="581025" y="4131915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581025" y="3905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50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Posizione vs Tempo</a:t>
            </a:r>
            <a:endParaRPr lang="it-IT" noProof="0" dirty="0"/>
          </a:p>
        </p:txBody>
      </p:sp>
      <p:pic>
        <p:nvPicPr>
          <p:cNvPr id="3" name="Immagine 2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AAFBFEEF-5C06-BC33-AE00-37CDA8AC06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19" r="48264" b="47054"/>
          <a:stretch>
            <a:fillRect/>
          </a:stretch>
        </p:blipFill>
        <p:spPr>
          <a:xfrm>
            <a:off x="6210294" y="2662896"/>
            <a:ext cx="5676911" cy="2965333"/>
          </a:xfrm>
          <a:prstGeom prst="rect">
            <a:avLst/>
          </a:prstGeom>
        </p:spPr>
      </p:pic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A15B4224-0910-45FF-2723-AC8D4E8E851A}"/>
              </a:ext>
            </a:extLst>
          </p:cNvPr>
          <p:cNvCxnSpPr>
            <a:cxnSpLocks/>
          </p:cNvCxnSpPr>
          <p:nvPr/>
        </p:nvCxnSpPr>
        <p:spPr>
          <a:xfrm>
            <a:off x="380192" y="1286057"/>
            <a:ext cx="1143161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00175"/>
            <a:ext cx="5324475" cy="50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6" descr="image.png"/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581775" y="3181350"/>
            <a:ext cx="4733925" cy="55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6"/>
          <p:cNvSpPr txBox="1"/>
          <p:nvPr/>
        </p:nvSpPr>
        <p:spPr>
          <a:xfrm>
            <a:off x="6581775" y="1695450"/>
            <a:ext cx="497062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0" i="0" u="none" strike="noStrike" cap="none" noProof="0" dirty="0">
                <a:solidFill>
                  <a:srgbClr val="3E63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Propagazione dell'Incertezza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338" name="Google Shape;338;p26"/>
          <p:cNvSpPr txBox="1"/>
          <p:nvPr/>
        </p:nvSpPr>
        <p:spPr>
          <a:xfrm>
            <a:off x="6581775" y="2352675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0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Lo scatter plot Massa-Gittata evidenzia una </a:t>
            </a:r>
            <a:r>
              <a:rPr lang="it-IT" sz="1350" b="1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proporzionalità diretta</a:t>
            </a:r>
            <a:r>
              <a:rPr lang="it-IT" sz="1350" b="0" i="0" u="none" strike="noStrike" cap="none" noProof="0" dirty="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it-IT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9" name="Google Shape;339;p26"/>
              <p:cNvSpPr txBox="1"/>
              <p:nvPr/>
            </p:nvSpPr>
            <p:spPr>
              <a:xfrm>
                <a:off x="6581775" y="4054971"/>
                <a:ext cx="4733925" cy="1246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it-IT" sz="1350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Questo spiega perché la distribuzione gaussiana delle masse si ritrova conservata nelle</a:t>
                </a:r>
                <a:r>
                  <a:rPr lang="it-IT" sz="1350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</a:t>
                </a:r>
                <a:r>
                  <a:rPr lang="it-IT" sz="1350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gittate. </a:t>
                </a:r>
                <a:r>
                  <a:rPr lang="it-IT" sz="1350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Le deviazioni standard delle gittate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350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sz="1350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𝜎</m:t>
                        </m:r>
                      </m:e>
                      <m:sub>
                        <m:r>
                          <a:rPr lang="it-IT" sz="1350" i="1" noProof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𝑢𝑜𝑚𝑖𝑛𝑖</m:t>
                        </m:r>
                      </m:sub>
                    </m:sSub>
                    <m:r>
                      <a:rPr lang="it-IT" sz="1350" i="1" noProof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=</m:t>
                    </m:r>
                    <m:r>
                      <a:rPr lang="it-IT" sz="1350" i="1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10.2</m:t>
                    </m:r>
                  </m:oMath>
                </a14:m>
                <a:r>
                  <a:rPr lang="it-IT" sz="1350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350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</m:ctrlPr>
                      </m:sSubPr>
                      <m:e>
                        <m:r>
                          <a:rPr lang="it-IT" sz="1350" i="1" noProof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𝜎</m:t>
                        </m:r>
                      </m:e>
                      <m:sub>
                        <m:r>
                          <a:rPr lang="it-IT" sz="1350" i="1" noProof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Montserrat"/>
                            <a:cs typeface="Montserrat"/>
                            <a:sym typeface="Montserrat"/>
                          </a:rPr>
                          <m:t>𝑑𝑜𝑛𝑛𝑒</m:t>
                        </m:r>
                      </m:sub>
                    </m:sSub>
                    <m:r>
                      <a:rPr lang="it-IT" sz="1350" i="1" noProof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=</m:t>
                    </m:r>
                    <m:r>
                      <a:rPr lang="it-IT" sz="1350" i="1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6.6</m:t>
                    </m:r>
                  </m:oMath>
                </a14:m>
                <a:r>
                  <a:rPr lang="it-IT" sz="1350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 sono il riflesso diretto della variabilità biologica iniziale.</a:t>
                </a:r>
                <a:endParaRPr lang="it-IT" noProof="0" dirty="0"/>
              </a:p>
            </p:txBody>
          </p:sp>
        </mc:Choice>
        <mc:Fallback>
          <p:sp>
            <p:nvSpPr>
              <p:cNvPr id="339" name="Google Shape;339;p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775" y="4054971"/>
                <a:ext cx="4733925" cy="1246495"/>
              </a:xfrm>
              <a:prstGeom prst="rect">
                <a:avLst/>
              </a:prstGeom>
              <a:blipFill>
                <a:blip r:embed="rId6"/>
                <a:stretch>
                  <a:fillRect l="-2320" r="-1546" b="-48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1" name="Google Shape;341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85571" y="3324225"/>
            <a:ext cx="1173956" cy="27354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6"/>
          <p:cNvSpPr txBox="1"/>
          <p:nvPr/>
        </p:nvSpPr>
        <p:spPr>
          <a:xfrm>
            <a:off x="581025" y="3905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50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Funzione di Trasferimento</a:t>
            </a:r>
            <a:endParaRPr lang="it-IT" noProof="0" dirty="0"/>
          </a:p>
        </p:txBody>
      </p:sp>
      <p:pic>
        <p:nvPicPr>
          <p:cNvPr id="5" name="Immagine 4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8E680B7E-3189-898A-1C08-97A558DADFC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432" t="53083" r="46440"/>
          <a:stretch>
            <a:fillRect/>
          </a:stretch>
        </p:blipFill>
        <p:spPr>
          <a:xfrm>
            <a:off x="295275" y="2239116"/>
            <a:ext cx="5610226" cy="3003060"/>
          </a:xfrm>
          <a:prstGeom prst="rect">
            <a:avLst/>
          </a:prstGeom>
        </p:spPr>
      </p:pic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97308CC2-CFD9-C52A-331C-B2C6AE2E2B7D}"/>
              </a:ext>
            </a:extLst>
          </p:cNvPr>
          <p:cNvCxnSpPr>
            <a:cxnSpLocks/>
          </p:cNvCxnSpPr>
          <p:nvPr/>
        </p:nvCxnSpPr>
        <p:spPr>
          <a:xfrm>
            <a:off x="379252" y="1196115"/>
            <a:ext cx="1123172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275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5"/>
          <p:cNvSpPr txBox="1"/>
          <p:nvPr/>
        </p:nvSpPr>
        <p:spPr>
          <a:xfrm>
            <a:off x="395182" y="361552"/>
            <a:ext cx="11581447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50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</a:t>
            </a:r>
            <a:r>
              <a:rPr lang="it-IT" sz="3150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stogramma delle frequenze</a:t>
            </a:r>
            <a:endParaRPr lang="it-IT" noProof="0" dirty="0"/>
          </a:p>
        </p:txBody>
      </p:sp>
      <p:pic>
        <p:nvPicPr>
          <p:cNvPr id="6" name="Immagine 5" descr="Immagine che contiene testo, diagramma, Diagramma, schermata">
            <a:extLst>
              <a:ext uri="{FF2B5EF4-FFF2-40B4-BE49-F238E27FC236}">
                <a16:creationId xmlns:a16="http://schemas.microsoft.com/office/drawing/2014/main" id="{C9AA0263-8810-80E7-99BF-F9FF0A6EF1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111" t="5532" r="33045" b="46302"/>
          <a:stretch>
            <a:fillRect/>
          </a:stretch>
        </p:blipFill>
        <p:spPr>
          <a:xfrm>
            <a:off x="7836264" y="2283618"/>
            <a:ext cx="3675741" cy="3423237"/>
          </a:xfrm>
          <a:prstGeom prst="rect">
            <a:avLst/>
          </a:prstGeom>
        </p:spPr>
      </p:pic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172D4EBE-E864-E082-B0C0-734961C79796}"/>
              </a:ext>
            </a:extLst>
          </p:cNvPr>
          <p:cNvCxnSpPr>
            <a:cxnSpLocks/>
          </p:cNvCxnSpPr>
          <p:nvPr/>
        </p:nvCxnSpPr>
        <p:spPr>
          <a:xfrm>
            <a:off x="395182" y="1151145"/>
            <a:ext cx="1140207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Google Shape;334;p26" descr="image.png">
            <a:extLst>
              <a:ext uri="{FF2B5EF4-FFF2-40B4-BE49-F238E27FC236}">
                <a16:creationId xmlns:a16="http://schemas.microsoft.com/office/drawing/2014/main" id="{9BA90849-95DC-3DDB-7228-E86ACA4FF49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422" y="3753907"/>
            <a:ext cx="6927865" cy="180743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CE0884-D1BB-CD41-4754-145C9A60293D}"/>
              </a:ext>
            </a:extLst>
          </p:cNvPr>
          <p:cNvSpPr txBox="1"/>
          <p:nvPr/>
        </p:nvSpPr>
        <p:spPr>
          <a:xfrm>
            <a:off x="942244" y="3995236"/>
            <a:ext cx="60935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350" b="1" noProof="0" dirty="0">
                <a:solidFill>
                  <a:srgbClr val="CBD5E1"/>
                </a:solidFill>
                <a:latin typeface="Montserrat"/>
              </a:rPr>
              <a:t>Conclusione:  </a:t>
            </a:r>
            <a:r>
              <a:rPr lang="it-IT" sz="1350" noProof="0" dirty="0">
                <a:solidFill>
                  <a:srgbClr val="CBD5E1"/>
                </a:solidFill>
                <a:latin typeface="Montserrat"/>
              </a:rPr>
              <a:t>L’istogramma mostra la distribuzione reale dei campioni simulati (500 lanci). Osserviamo chiaramente la separazione biologica tra le due popolazioni: i maschi presentano gittate medie superiori a causa della maggiore massa, confermando come la variabilità del peso influenzi direttamente la distanza percorsa.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B5D769A-4DF0-E811-151E-F3E4091C8A70}"/>
              </a:ext>
            </a:extLst>
          </p:cNvPr>
          <p:cNvSpPr txBox="1"/>
          <p:nvPr/>
        </p:nvSpPr>
        <p:spPr>
          <a:xfrm>
            <a:off x="1272632" y="1760398"/>
            <a:ext cx="4607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noProof="0" dirty="0">
                <a:solidFill>
                  <a:srgbClr val="CBD5E1"/>
                </a:solidFill>
                <a:latin typeface="Montserrat"/>
              </a:rPr>
              <a:t>Utilizzando la libreria                             </a:t>
            </a:r>
          </a:p>
          <a:p>
            <a:r>
              <a:rPr lang="it-IT" noProof="0" dirty="0">
                <a:solidFill>
                  <a:srgbClr val="CBD5E1"/>
                </a:solidFill>
                <a:latin typeface="Montserrat"/>
              </a:rPr>
              <a:t>Realizziamo degli istogrammi di frequenza dove :</a:t>
            </a:r>
            <a:endParaRPr lang="it-IT" sz="1600" noProof="0" dirty="0"/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C4A332B8-D68C-88C1-102C-0D242A14A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771" y="1718588"/>
            <a:ext cx="1238250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312;p24">
            <a:extLst>
              <a:ext uri="{FF2B5EF4-FFF2-40B4-BE49-F238E27FC236}">
                <a16:creationId xmlns:a16="http://schemas.microsoft.com/office/drawing/2014/main" id="{9ABF851A-BC6B-DD23-1DFD-3D21304677A6}"/>
              </a:ext>
            </a:extLst>
          </p:cNvPr>
          <p:cNvSpPr txBox="1"/>
          <p:nvPr/>
        </p:nvSpPr>
        <p:spPr>
          <a:xfrm>
            <a:off x="837469" y="2621435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64A341A-44D1-A673-3B8A-26A4EAC7A0C9}"/>
              </a:ext>
            </a:extLst>
          </p:cNvPr>
          <p:cNvSpPr txBox="1"/>
          <p:nvPr/>
        </p:nvSpPr>
        <p:spPr>
          <a:xfrm>
            <a:off x="1062769" y="2621435"/>
            <a:ext cx="60935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noProof="0" dirty="0">
                <a:solidFill>
                  <a:srgbClr val="CBD5E1"/>
                </a:solidFill>
                <a:latin typeface="Montserrat"/>
              </a:rPr>
              <a:t>l’altezza di ogni colonna (bin) rappresenta il numero assoluto di individui della popolazione che sono atterrati in quel determinato intervallo spaziale.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20;p25" descr="image.png">
            <a:extLst>
              <a:ext uri="{FF2B5EF4-FFF2-40B4-BE49-F238E27FC236}">
                <a16:creationId xmlns:a16="http://schemas.microsoft.com/office/drawing/2014/main" id="{8960F293-F3EB-722C-C2B5-B2F70C79E0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8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magine 4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9A428541-5FB8-8A00-26A1-AA2B9F351F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590" t="6946" r="395" b="46641"/>
          <a:stretch>
            <a:fillRect/>
          </a:stretch>
        </p:blipFill>
        <p:spPr>
          <a:xfrm>
            <a:off x="832230" y="2157281"/>
            <a:ext cx="3282808" cy="2692177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775CEE1-7152-70CD-4396-9CB49A80533F}"/>
              </a:ext>
            </a:extLst>
          </p:cNvPr>
          <p:cNvSpPr txBox="1"/>
          <p:nvPr/>
        </p:nvSpPr>
        <p:spPr>
          <a:xfrm>
            <a:off x="5743529" y="2236774"/>
            <a:ext cx="5540929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350" noProof="0" dirty="0">
                <a:solidFill>
                  <a:srgbClr val="CBD5E1"/>
                </a:solidFill>
                <a:latin typeface="Montserrat"/>
              </a:rPr>
              <a:t>l’altezza di ogni colonna indica la probabilità che un generico individuo della popolazione atterri in quell'intervallo (l'area totale sotto l'istogramma è pari a 1).</a:t>
            </a:r>
          </a:p>
        </p:txBody>
      </p:sp>
      <p:sp>
        <p:nvSpPr>
          <p:cNvPr id="6" name="Google Shape;327;p25">
            <a:extLst>
              <a:ext uri="{FF2B5EF4-FFF2-40B4-BE49-F238E27FC236}">
                <a16:creationId xmlns:a16="http://schemas.microsoft.com/office/drawing/2014/main" id="{9BAAED42-5468-78E9-93B1-BBBAC1E9135F}"/>
              </a:ext>
            </a:extLst>
          </p:cNvPr>
          <p:cNvSpPr txBox="1"/>
          <p:nvPr/>
        </p:nvSpPr>
        <p:spPr>
          <a:xfrm>
            <a:off x="547668" y="333282"/>
            <a:ext cx="11581447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50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</a:t>
            </a:r>
            <a:r>
              <a:rPr lang="it-IT" sz="3150" b="0" i="0" u="none" strike="noStrike" cap="none" noProof="0" dirty="0">
                <a:solidFill>
                  <a:srgbClr val="F1F5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stogramma delle probabilità </a:t>
            </a:r>
            <a:endParaRPr lang="it-IT" noProof="0" dirty="0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DDFDE9D5-B63E-5DD0-E4F5-5156C3E04E19}"/>
              </a:ext>
            </a:extLst>
          </p:cNvPr>
          <p:cNvCxnSpPr>
            <a:cxnSpLocks/>
          </p:cNvCxnSpPr>
          <p:nvPr/>
        </p:nvCxnSpPr>
        <p:spPr>
          <a:xfrm>
            <a:off x="445574" y="1060404"/>
            <a:ext cx="1140207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3128832-807A-866A-9AE3-B79EC0A3B0A6}"/>
              </a:ext>
            </a:extLst>
          </p:cNvPr>
          <p:cNvSpPr txBox="1"/>
          <p:nvPr/>
        </p:nvSpPr>
        <p:spPr>
          <a:xfrm>
            <a:off x="513784" y="1423768"/>
            <a:ext cx="10935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noProof="0" dirty="0">
                <a:solidFill>
                  <a:srgbClr val="CBD5E1"/>
                </a:solidFill>
                <a:latin typeface="Montserrat"/>
              </a:rPr>
              <a:t>Normalizzando i dati precedenti attraverso il parametro                                      otteniamo l’istogramma della Densità di Probabilità (PDF). </a:t>
            </a:r>
            <a:endParaRPr lang="it-IT" sz="1600" noProof="0" dirty="0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F5F9AB84-9C70-FEEC-BECE-4D7E42E403D6}"/>
              </a:ext>
            </a:extLst>
          </p:cNvPr>
          <p:cNvSpPr/>
          <p:nvPr/>
        </p:nvSpPr>
        <p:spPr>
          <a:xfrm>
            <a:off x="6458311" y="1466310"/>
            <a:ext cx="1704794" cy="249845"/>
          </a:xfrm>
          <a:prstGeom prst="roundRect">
            <a:avLst/>
          </a:prstGeom>
          <a:solidFill>
            <a:srgbClr val="0F172A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noProof="0" dirty="0">
                <a:solidFill>
                  <a:srgbClr val="A5B5FD"/>
                </a:solidFill>
                <a:latin typeface="Consolas" panose="020B0609020204030204" pitchFamily="49" charset="0"/>
              </a:rPr>
              <a:t>density = True</a:t>
            </a:r>
          </a:p>
        </p:txBody>
      </p:sp>
      <p:pic>
        <p:nvPicPr>
          <p:cNvPr id="15" name="Google Shape;334;p26" descr="image.png">
            <a:extLst>
              <a:ext uri="{FF2B5EF4-FFF2-40B4-BE49-F238E27FC236}">
                <a16:creationId xmlns:a16="http://schemas.microsoft.com/office/drawing/2014/main" id="{D3358D6A-F034-B841-54FD-7933314DB1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19786" y="3008261"/>
            <a:ext cx="6927865" cy="180743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F20B188-F42E-1FE7-6BCE-956C04A7B853}"/>
              </a:ext>
            </a:extLst>
          </p:cNvPr>
          <p:cNvSpPr txBox="1"/>
          <p:nvPr/>
        </p:nvSpPr>
        <p:spPr>
          <a:xfrm>
            <a:off x="5284502" y="3202337"/>
            <a:ext cx="61984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350" b="1" noProof="0" dirty="0">
                <a:solidFill>
                  <a:srgbClr val="CBD5E1"/>
                </a:solidFill>
                <a:latin typeface="Montserrat"/>
              </a:rPr>
              <a:t>Conclusione</a:t>
            </a:r>
            <a:r>
              <a:rPr lang="it-IT" sz="1400" noProof="0" dirty="0">
                <a:solidFill>
                  <a:srgbClr val="CBD5E1"/>
                </a:solidFill>
                <a:latin typeface="Montserrat"/>
              </a:rPr>
              <a:t>: Si osserva la legge matematica che governa il fenomeno. La sovrapposizione della curva teorica Gaussiana</a:t>
            </a:r>
            <a:r>
              <a:rPr lang="it-IT" noProof="0" dirty="0">
                <a:solidFill>
                  <a:srgbClr val="CBD5E1"/>
                </a:solidFill>
                <a:latin typeface="Montserrat"/>
              </a:rPr>
              <a:t> con al libreria                           </a:t>
            </a:r>
            <a:r>
              <a:rPr lang="it-IT" sz="1400" noProof="0" dirty="0">
                <a:solidFill>
                  <a:srgbClr val="CBD5E1"/>
                </a:solidFill>
                <a:latin typeface="Montserrat"/>
              </a:rPr>
              <a:t> </a:t>
            </a:r>
            <a:r>
              <a:rPr lang="it-IT" noProof="0" dirty="0">
                <a:solidFill>
                  <a:srgbClr val="CBD5E1"/>
                </a:solidFill>
                <a:latin typeface="Montserrat"/>
              </a:rPr>
              <a:t>      </a:t>
            </a:r>
            <a:r>
              <a:rPr lang="it-IT" sz="1400" noProof="0" dirty="0">
                <a:solidFill>
                  <a:srgbClr val="CBD5E1"/>
                </a:solidFill>
                <a:latin typeface="Montserrat"/>
              </a:rPr>
              <a:t>(tracciata utilizzando la media e la deviazione standard calcolate dal campione) valida il modello: le gittate seguono fedelmente una distribuzione normale centrata sul valore atteso.</a:t>
            </a:r>
          </a:p>
        </p:txBody>
      </p:sp>
      <p:pic>
        <p:nvPicPr>
          <p:cNvPr id="14" name="Google Shape;137;p16" descr="image.png">
            <a:extLst>
              <a:ext uri="{FF2B5EF4-FFF2-40B4-BE49-F238E27FC236}">
                <a16:creationId xmlns:a16="http://schemas.microsoft.com/office/drawing/2014/main" id="{FCA66626-D7B8-462A-75CF-83179C16CC2C}"/>
              </a:ext>
            </a:extLst>
          </p:cNvPr>
          <p:cNvPicPr preferRelativeResize="0"/>
          <p:nvPr/>
        </p:nvPicPr>
        <p:blipFill rotWithShape="1">
          <a:blip r:embed="rId6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13784" y="5137438"/>
            <a:ext cx="5582216" cy="138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12;p24">
            <a:extLst>
              <a:ext uri="{FF2B5EF4-FFF2-40B4-BE49-F238E27FC236}">
                <a16:creationId xmlns:a16="http://schemas.microsoft.com/office/drawing/2014/main" id="{82C5457F-EC89-9B53-6C3E-07DCAEBB74CC}"/>
              </a:ext>
            </a:extLst>
          </p:cNvPr>
          <p:cNvSpPr txBox="1"/>
          <p:nvPr/>
        </p:nvSpPr>
        <p:spPr>
          <a:xfrm>
            <a:off x="5638754" y="2216094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A0CAD09-45E7-5849-2FFB-50D4FC6230B9}"/>
              </a:ext>
            </a:extLst>
          </p:cNvPr>
          <p:cNvSpPr txBox="1"/>
          <p:nvPr/>
        </p:nvSpPr>
        <p:spPr>
          <a:xfrm>
            <a:off x="601715" y="5220286"/>
            <a:ext cx="5677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noProof="0" dirty="0">
                <a:solidFill>
                  <a:srgbClr val="CBD5E1"/>
                </a:solidFill>
                <a:latin typeface="Montserrat"/>
              </a:rPr>
              <a:t>La gittata finale è una variabile statistica che si distribuisce come segue:</a:t>
            </a:r>
          </a:p>
        </p:txBody>
      </p:sp>
      <p:sp>
        <p:nvSpPr>
          <p:cNvPr id="19" name="Google Shape;312;p24">
            <a:extLst>
              <a:ext uri="{FF2B5EF4-FFF2-40B4-BE49-F238E27FC236}">
                <a16:creationId xmlns:a16="http://schemas.microsoft.com/office/drawing/2014/main" id="{5596248E-2AA9-2E96-7B3B-0628C905E635}"/>
              </a:ext>
            </a:extLst>
          </p:cNvPr>
          <p:cNvSpPr txBox="1"/>
          <p:nvPr/>
        </p:nvSpPr>
        <p:spPr>
          <a:xfrm>
            <a:off x="727454" y="5696337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20" name="Google Shape;312;p24">
            <a:extLst>
              <a:ext uri="{FF2B5EF4-FFF2-40B4-BE49-F238E27FC236}">
                <a16:creationId xmlns:a16="http://schemas.microsoft.com/office/drawing/2014/main" id="{649A413C-8F7B-20FB-7207-19FCBB86587E}"/>
              </a:ext>
            </a:extLst>
          </p:cNvPr>
          <p:cNvSpPr txBox="1"/>
          <p:nvPr/>
        </p:nvSpPr>
        <p:spPr>
          <a:xfrm>
            <a:off x="727454" y="6042499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BAAE7370-C56F-9AFC-AB87-F1010500D7BB}"/>
                  </a:ext>
                </a:extLst>
              </p:cNvPr>
              <p:cNvSpPr txBox="1"/>
              <p:nvPr/>
            </p:nvSpPr>
            <p:spPr>
              <a:xfrm>
                <a:off x="911272" y="5726322"/>
                <a:ext cx="61084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400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Uomini </a:t>
                </a:r>
                <a:r>
                  <a:rPr lang="it-IT" sz="1400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</a:t>
                </a:r>
                <a14:m>
                  <m:oMath xmlns:m="http://schemas.openxmlformats.org/officeDocument/2006/math">
                    <m:r>
                      <a:rPr lang="it-IT" sz="1400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𝜇</m:t>
                    </m:r>
                    <m:r>
                      <a:rPr lang="it-IT" sz="1400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=249.</m:t>
                    </m:r>
                    <m:r>
                      <a:rPr lang="it-IT" sz="1400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7 , </m:t>
                    </m:r>
                    <m:r>
                      <a:rPr lang="it-IT" sz="1400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𝜎</m:t>
                    </m:r>
                    <m:r>
                      <a:rPr lang="it-IT" sz="1400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=10.2</m:t>
                    </m:r>
                  </m:oMath>
                </a14:m>
                <a:br>
                  <a:rPr lang="it-IT" sz="2000" b="0" i="0" u="none" strike="noStrike" cap="none" noProof="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endParaRPr lang="it-IT" noProof="0" dirty="0"/>
              </a:p>
            </p:txBody>
          </p:sp>
        </mc:Choice>
        <mc:Fallback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BAAE7370-C56F-9AFC-AB87-F1010500D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72" y="5726322"/>
                <a:ext cx="6108492" cy="523220"/>
              </a:xfrm>
              <a:prstGeom prst="rect">
                <a:avLst/>
              </a:prstGeom>
              <a:blipFill>
                <a:blip r:embed="rId7"/>
                <a:stretch>
                  <a:fillRect l="-299" t="-23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70E8F9D8-3BAB-4754-11A4-14126D26814E}"/>
                  </a:ext>
                </a:extLst>
              </p:cNvPr>
              <p:cNvSpPr txBox="1"/>
              <p:nvPr/>
            </p:nvSpPr>
            <p:spPr>
              <a:xfrm>
                <a:off x="911272" y="6036036"/>
                <a:ext cx="61084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400" b="0" i="0" u="none" strike="noStrike" cap="none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Donne </a:t>
                </a:r>
                <a:r>
                  <a:rPr lang="it-IT" sz="1400" noProof="0" dirty="0">
                    <a:solidFill>
                      <a:srgbClr val="CBD5E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</a:t>
                </a:r>
                <a14:m>
                  <m:oMath xmlns:m="http://schemas.openxmlformats.org/officeDocument/2006/math">
                    <m:r>
                      <a:rPr lang="it-IT" sz="1400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𝜇</m:t>
                    </m:r>
                    <m:r>
                      <a:rPr lang="it-IT" sz="1400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=200.</m:t>
                    </m:r>
                    <m:r>
                      <a:rPr lang="it-IT" sz="1400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3 , </m:t>
                    </m:r>
                    <m:r>
                      <a:rPr lang="it-IT" sz="1400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𝜎</m:t>
                    </m:r>
                    <m:r>
                      <a:rPr lang="it-IT" sz="1400" b="0" i="1" u="none" strike="noStrike" cap="none" noProof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Montserrat"/>
                        <a:cs typeface="Montserrat"/>
                        <a:sym typeface="Montserrat"/>
                      </a:rPr>
                      <m:t>=6.6</m:t>
                    </m:r>
                  </m:oMath>
                </a14:m>
                <a:br>
                  <a:rPr lang="it-IT" sz="2000" b="0" i="0" u="none" strike="noStrike" cap="none" noProof="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endParaRPr lang="it-IT" noProof="0" dirty="0"/>
              </a:p>
            </p:txBody>
          </p:sp>
        </mc:Choice>
        <mc:Fallback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70E8F9D8-3BAB-4754-11A4-14126D268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72" y="6036036"/>
                <a:ext cx="6108492" cy="523220"/>
              </a:xfrm>
              <a:prstGeom prst="rect">
                <a:avLst/>
              </a:prstGeom>
              <a:blipFill>
                <a:blip r:embed="rId8"/>
                <a:stretch>
                  <a:fillRect l="-299" t="-34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2575936-8B09-2536-7384-B6ACE13E865B}"/>
              </a:ext>
            </a:extLst>
          </p:cNvPr>
          <p:cNvSpPr txBox="1"/>
          <p:nvPr/>
        </p:nvSpPr>
        <p:spPr>
          <a:xfrm>
            <a:off x="7098807" y="5220286"/>
            <a:ext cx="42844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noProof="0" dirty="0">
                <a:solidFill>
                  <a:srgbClr val="CBD5E1"/>
                </a:solidFill>
                <a:latin typeface="Montserrat"/>
              </a:rPr>
              <a:t>una massa maggiore comporta una maggiore inerzia 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21E1C73-43C4-5FBB-404E-8068AE6CADC6}"/>
              </a:ext>
            </a:extLst>
          </p:cNvPr>
          <p:cNvSpPr txBox="1"/>
          <p:nvPr/>
        </p:nvSpPr>
        <p:spPr>
          <a:xfrm>
            <a:off x="7098807" y="5786054"/>
            <a:ext cx="497952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noProof="0" dirty="0">
                <a:solidFill>
                  <a:srgbClr val="CBD5E1"/>
                </a:solidFill>
                <a:latin typeface="Montserrat"/>
              </a:rPr>
              <a:t>la variabilità biologica maschile genera una dispersione dei punti di atterraggio maggiore rispetto a quella femminile</a:t>
            </a:r>
          </a:p>
        </p:txBody>
      </p:sp>
      <p:sp>
        <p:nvSpPr>
          <p:cNvPr id="29" name="Google Shape;312;p24">
            <a:extLst>
              <a:ext uri="{FF2B5EF4-FFF2-40B4-BE49-F238E27FC236}">
                <a16:creationId xmlns:a16="http://schemas.microsoft.com/office/drawing/2014/main" id="{64A602B3-346A-FB10-DB40-225198F5D356}"/>
              </a:ext>
            </a:extLst>
          </p:cNvPr>
          <p:cNvSpPr txBox="1"/>
          <p:nvPr/>
        </p:nvSpPr>
        <p:spPr>
          <a:xfrm>
            <a:off x="6938354" y="5192757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sp>
        <p:nvSpPr>
          <p:cNvPr id="30" name="Google Shape;312;p24">
            <a:extLst>
              <a:ext uri="{FF2B5EF4-FFF2-40B4-BE49-F238E27FC236}">
                <a16:creationId xmlns:a16="http://schemas.microsoft.com/office/drawing/2014/main" id="{BFC1C28E-EFCD-0713-3C5D-F0F4E644BA2B}"/>
              </a:ext>
            </a:extLst>
          </p:cNvPr>
          <p:cNvSpPr txBox="1"/>
          <p:nvPr/>
        </p:nvSpPr>
        <p:spPr>
          <a:xfrm>
            <a:off x="6954510" y="5786054"/>
            <a:ext cx="104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i="0" u="none" strike="noStrike" cap="none" noProof="0" dirty="0">
                <a:solidFill>
                  <a:srgbClr val="3E639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lang="it-IT" noProof="0" dirty="0">
              <a:solidFill>
                <a:srgbClr val="3E6390"/>
              </a:solidFill>
            </a:endParaRPr>
          </a:p>
        </p:txBody>
      </p:sp>
      <p:pic>
        <p:nvPicPr>
          <p:cNvPr id="31" name="Google Shape;137;p16" descr="image.png">
            <a:extLst>
              <a:ext uri="{FF2B5EF4-FFF2-40B4-BE49-F238E27FC236}">
                <a16:creationId xmlns:a16="http://schemas.microsoft.com/office/drawing/2014/main" id="{6F50E117-F297-F291-D244-107934DDF182}"/>
              </a:ext>
            </a:extLst>
          </p:cNvPr>
          <p:cNvPicPr preferRelativeResize="0"/>
          <p:nvPr/>
        </p:nvPicPr>
        <p:blipFill rotWithShape="1">
          <a:blip r:embed="rId6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400433" y="5137438"/>
            <a:ext cx="5677895" cy="138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A0AB5E4D-4A12-5FB2-8C91-1DC75F029931}"/>
              </a:ext>
            </a:extLst>
          </p:cNvPr>
          <p:cNvSpPr/>
          <p:nvPr/>
        </p:nvSpPr>
        <p:spPr>
          <a:xfrm>
            <a:off x="6055321" y="3680815"/>
            <a:ext cx="1407959" cy="214019"/>
          </a:xfrm>
          <a:prstGeom prst="roundRect">
            <a:avLst/>
          </a:prstGeom>
          <a:solidFill>
            <a:srgbClr val="0F172A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noProof="0" dirty="0">
                <a:solidFill>
                  <a:srgbClr val="A5B5FD"/>
                </a:solidFill>
                <a:latin typeface="Consolas" panose="020B0609020204030204" pitchFamily="49" charset="0"/>
              </a:rPr>
              <a:t>scipy.stats</a:t>
            </a:r>
          </a:p>
        </p:txBody>
      </p:sp>
    </p:spTree>
    <p:extLst>
      <p:ext uri="{BB962C8B-B14F-4D97-AF65-F5344CB8AC3E}">
        <p14:creationId xmlns:p14="http://schemas.microsoft.com/office/powerpoint/2010/main" val="753517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EDD6D420202654F8C7555F820688DDB" ma:contentTypeVersion="10" ma:contentTypeDescription="Creare un nuovo documento." ma:contentTypeScope="" ma:versionID="dd4687d9ebcb3d1417e64d7781545296">
  <xsd:schema xmlns:xsd="http://www.w3.org/2001/XMLSchema" xmlns:xs="http://www.w3.org/2001/XMLSchema" xmlns:p="http://schemas.microsoft.com/office/2006/metadata/properties" xmlns:ns3="081a5155-7c1a-4f0a-85ce-57943588e62b" targetNamespace="http://schemas.microsoft.com/office/2006/metadata/properties" ma:root="true" ma:fieldsID="b4f685447143bab795992aa65615c538" ns3:_="">
    <xsd:import namespace="081a5155-7c1a-4f0a-85ce-57943588e62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1a5155-7c1a-4f0a-85ce-57943588e6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81a5155-7c1a-4f0a-85ce-57943588e62b" xsi:nil="true"/>
  </documentManagement>
</p:properties>
</file>

<file path=customXml/itemProps1.xml><?xml version="1.0" encoding="utf-8"?>
<ds:datastoreItem xmlns:ds="http://schemas.openxmlformats.org/officeDocument/2006/customXml" ds:itemID="{0A884858-213F-4BE1-A4FB-A7A5E37305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99DCB04-DA22-4301-8571-4355EA6720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1a5155-7c1a-4f0a-85ce-57943588e6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FE0BC6-6C17-4CF6-955B-F1048A52BF93}">
  <ds:schemaRefs>
    <ds:schemaRef ds:uri="http://purl.org/dc/elements/1.1/"/>
    <ds:schemaRef ds:uri="http://schemas.microsoft.com/office/2006/documentManagement/types"/>
    <ds:schemaRef ds:uri="http://purl.org/dc/dcmitype/"/>
    <ds:schemaRef ds:uri="081a5155-7c1a-4f0a-85ce-57943588e62b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1671</Words>
  <Application>Microsoft Office PowerPoint</Application>
  <PresentationFormat>Widescreen</PresentationFormat>
  <Paragraphs>180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1" baseType="lpstr">
      <vt:lpstr>Consolas</vt:lpstr>
      <vt:lpstr>Cambria Math</vt:lpstr>
      <vt:lpstr>Montserrat ExtraBold</vt:lpstr>
      <vt:lpstr>Montserrat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Utente</dc:creator>
  <cp:lastModifiedBy>Sara Proietto</cp:lastModifiedBy>
  <cp:revision>2</cp:revision>
  <dcterms:modified xsi:type="dcterms:W3CDTF">2026-02-03T19:09:03Z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0x0101005EDD6D420202654F8C7555F820688DDB</vt:lpwstr>
  </property>
</Properties>
</file>